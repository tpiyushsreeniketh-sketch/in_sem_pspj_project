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19.fntdata" ContentType="application/x-fontdata"/>
  <Override PartName="/ppt/fonts/font2.fntdata" ContentType="application/x-fontdata"/>
  <Override PartName="/ppt/fonts/font20.fntdata" ContentType="application/x-fontdata"/>
  <Override PartName="/ppt/fonts/font21.fntdata" ContentType="application/x-fontdata"/>
  <Override PartName="/ppt/fonts/font22.fntdata" ContentType="application/x-fontdata"/>
  <Override PartName="/ppt/fonts/font23.fntdata" ContentType="application/x-fontdata"/>
  <Override PartName="/ppt/fonts/font24.fntdata" ContentType="application/x-fontdata"/>
  <Override PartName="/ppt/fonts/font25.fntdata" ContentType="application/x-fontdata"/>
  <Override PartName="/ppt/fonts/font26.fntdata" ContentType="application/x-fontdata"/>
  <Override PartName="/ppt/fonts/font27.fntdata" ContentType="application/x-fontdata"/>
  <Override PartName="/ppt/fonts/font28.fntdata" ContentType="application/x-fontdata"/>
  <Override PartName="/ppt/fonts/font29.fntdata" ContentType="application/x-fontdata"/>
  <Override PartName="/ppt/fonts/font3.fntdata" ContentType="application/x-fontdata"/>
  <Override PartName="/ppt/fonts/font30.fntdata" ContentType="application/x-fontdata"/>
  <Override PartName="/ppt/fonts/font31.fntdata" ContentType="application/x-fontdata"/>
  <Override PartName="/ppt/fonts/font32.fntdata" ContentType="application/x-fontdata"/>
  <Override PartName="/ppt/fonts/font33.fntdata" ContentType="application/x-fontdata"/>
  <Override PartName="/ppt/fonts/font34.fntdata" ContentType="application/x-fontdata"/>
  <Override PartName="/ppt/fonts/font35.fntdata" ContentType="application/x-fontdata"/>
  <Override PartName="/ppt/fonts/font36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2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1365" cy="6858000"/>
  <p:notesSz cx="6858000" cy="12191365"/>
  <p:embeddedFontLst>
    <p:embeddedFont>
      <p:font typeface="Michroma" pitchFamily="34" charset="0"/>
      <p:regular r:id="rId19"/>
    </p:embeddedFont>
    <p:embeddedFont>
      <p:font typeface="Michroma" pitchFamily="34" charset="-122"/>
      <p:regular r:id="rId20"/>
    </p:embeddedFont>
    <p:embeddedFont>
      <p:font typeface="Michroma" pitchFamily="34" charset="-120"/>
      <p:regular r:id="rId21"/>
    </p:embeddedFont>
    <p:embeddedFont>
      <p:font typeface="Exo SemiBold" pitchFamily="34" charset="0"/>
      <p:bold r:id="rId22"/>
    </p:embeddedFont>
    <p:embeddedFont>
      <p:font typeface="Exo SemiBold" pitchFamily="34" charset="-122"/>
      <p:bold r:id="rId23"/>
    </p:embeddedFont>
    <p:embeddedFont>
      <p:font typeface="Exo SemiBold" pitchFamily="34" charset="-120"/>
      <p:bold r:id="rId24"/>
    </p:embeddedFont>
    <p:embeddedFont>
      <p:font typeface="Exo" pitchFamily="34" charset="0"/>
      <p:regular r:id="rId25"/>
    </p:embeddedFont>
    <p:embeddedFont>
      <p:font typeface="Exo" pitchFamily="34" charset="-122"/>
      <p:regular r:id="rId26"/>
    </p:embeddedFont>
    <p:embeddedFont>
      <p:font typeface="Exo" pitchFamily="34" charset="-120"/>
      <p:regular r:id="rId27"/>
    </p:embeddedFont>
    <p:embeddedFont>
      <p:font typeface="Fira Mono Medium" panose="020B0609050000020004" pitchFamily="34" charset="0"/>
      <p:regular r:id="rId28"/>
    </p:embeddedFont>
    <p:embeddedFont>
      <p:font typeface="Fira Mono Medium" panose="020B0609050000020004" pitchFamily="34" charset="-122"/>
      <p:regular r:id="rId29"/>
    </p:embeddedFont>
    <p:embeddedFont>
      <p:font typeface="Fira Mono Medium" panose="020B0609050000020004" pitchFamily="34" charset="-120"/>
      <p:regular r:id="rId30"/>
    </p:embeddedFont>
    <p:embeddedFont>
      <p:font typeface="Fira Mono" panose="020B0509050000020004" pitchFamily="34" charset="0"/>
      <p:regular r:id="rId31"/>
    </p:embeddedFont>
    <p:embeddedFont>
      <p:font typeface="Fira Mono" panose="020B0509050000020004" pitchFamily="34" charset="-122"/>
      <p:regular r:id="rId32"/>
    </p:embeddedFont>
    <p:embeddedFont>
      <p:font typeface="Fira Mono" panose="020B0509050000020004" pitchFamily="34" charset="-120"/>
      <p:regular r:id="rId33"/>
    </p:embeddedFont>
    <p:embeddedFont>
      <p:font typeface="Exo Bold" pitchFamily="34" charset="0"/>
      <p:bold r:id="rId34"/>
    </p:embeddedFont>
    <p:embeddedFont>
      <p:font typeface="Exo Bold" pitchFamily="34" charset="-122"/>
      <p:bold r:id="rId35"/>
    </p:embeddedFont>
    <p:embeddedFont>
      <p:font typeface="Exo Bold" pitchFamily="34" charset="-120"/>
      <p:bold r:id="rId36"/>
    </p:embeddedFont>
    <p:embeddedFont>
      <p:font typeface="Consolas" panose="020B0609020204030204" pitchFamily="34" charset="0"/>
      <p:regular r:id="rId37"/>
      <p:bold r:id="rId38"/>
      <p:italic r:id="rId39"/>
      <p:boldItalic r:id="rId40"/>
    </p:embeddedFont>
    <p:embeddedFont>
      <p:font typeface="Consolas" panose="020B0609020204030204" pitchFamily="34" charset="-122"/>
      <p:regular r:id="rId41"/>
      <p:bold r:id="rId42"/>
      <p:italic r:id="rId43"/>
      <p:boldItalic r:id="rId44"/>
    </p:embeddedFont>
    <p:embeddedFont>
      <p:font typeface="Consolas" panose="020B0609020204030204" pitchFamily="34" charset="-120"/>
      <p:regular r:id="rId45"/>
      <p:bold r:id="rId46"/>
      <p:italic r:id="rId47"/>
      <p:boldItalic r:id="rId48"/>
    </p:embeddedFont>
    <p:embeddedFont>
      <p:font typeface="Calibri" panose="020F0502020204030204" charset="0"/>
      <p:regular r:id="rId49"/>
      <p:bold r:id="rId50"/>
      <p:italic r:id="rId51"/>
      <p:boldItalic r:id="rId52"/>
    </p:embeddedFont>
    <p:embeddedFont>
      <p:font typeface="Calibri Light" panose="020F0302020204030204" charset="0"/>
      <p:regular r:id="rId53"/>
      <p:italic r:id="rId5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4" Type="http://schemas.openxmlformats.org/officeDocument/2006/relationships/font" Target="fonts/font36.fntdata"/><Relationship Id="rId53" Type="http://schemas.openxmlformats.org/officeDocument/2006/relationships/font" Target="fonts/font35.fntdata"/><Relationship Id="rId52" Type="http://schemas.openxmlformats.org/officeDocument/2006/relationships/font" Target="fonts/font34.fntdata"/><Relationship Id="rId51" Type="http://schemas.openxmlformats.org/officeDocument/2006/relationships/font" Target="fonts/font33.fntdata"/><Relationship Id="rId50" Type="http://schemas.openxmlformats.org/officeDocument/2006/relationships/font" Target="fonts/font32.fntdata"/><Relationship Id="rId5" Type="http://schemas.openxmlformats.org/officeDocument/2006/relationships/notesMaster" Target="notesMasters/notesMaster1.xml"/><Relationship Id="rId49" Type="http://schemas.openxmlformats.org/officeDocument/2006/relationships/font" Target="fonts/font31.fntdata"/><Relationship Id="rId48" Type="http://schemas.openxmlformats.org/officeDocument/2006/relationships/font" Target="fonts/font30.fntdata"/><Relationship Id="rId47" Type="http://schemas.openxmlformats.org/officeDocument/2006/relationships/font" Target="fonts/font29.fntdata"/><Relationship Id="rId46" Type="http://schemas.openxmlformats.org/officeDocument/2006/relationships/font" Target="fonts/font28.fntdata"/><Relationship Id="rId45" Type="http://schemas.openxmlformats.org/officeDocument/2006/relationships/font" Target="fonts/font27.fntdata"/><Relationship Id="rId44" Type="http://schemas.openxmlformats.org/officeDocument/2006/relationships/font" Target="fonts/font26.fntdata"/><Relationship Id="rId43" Type="http://schemas.openxmlformats.org/officeDocument/2006/relationships/font" Target="fonts/font25.fntdata"/><Relationship Id="rId42" Type="http://schemas.openxmlformats.org/officeDocument/2006/relationships/font" Target="fonts/font24.fntdata"/><Relationship Id="rId41" Type="http://schemas.openxmlformats.org/officeDocument/2006/relationships/font" Target="fonts/font23.fntdata"/><Relationship Id="rId40" Type="http://schemas.openxmlformats.org/officeDocument/2006/relationships/font" Target="fonts/font22.fntdata"/><Relationship Id="rId4" Type="http://schemas.openxmlformats.org/officeDocument/2006/relationships/slide" Target="slides/slide1.xml"/><Relationship Id="rId39" Type="http://schemas.openxmlformats.org/officeDocument/2006/relationships/font" Target="fonts/font21.fntdata"/><Relationship Id="rId38" Type="http://schemas.openxmlformats.org/officeDocument/2006/relationships/font" Target="fonts/font20.fntdata"/><Relationship Id="rId37" Type="http://schemas.openxmlformats.org/officeDocument/2006/relationships/font" Target="fonts/font19.fntdata"/><Relationship Id="rId36" Type="http://schemas.openxmlformats.org/officeDocument/2006/relationships/font" Target="fonts/font18.fntdata"/><Relationship Id="rId35" Type="http://schemas.openxmlformats.org/officeDocument/2006/relationships/font" Target="fonts/font17.fntdata"/><Relationship Id="rId34" Type="http://schemas.openxmlformats.org/officeDocument/2006/relationships/font" Target="fonts/font16.fntdata"/><Relationship Id="rId33" Type="http://schemas.openxmlformats.org/officeDocument/2006/relationships/font" Target="fonts/font15.fntdata"/><Relationship Id="rId32" Type="http://schemas.openxmlformats.org/officeDocument/2006/relationships/font" Target="fonts/font14.fntdata"/><Relationship Id="rId31" Type="http://schemas.openxmlformats.org/officeDocument/2006/relationships/font" Target="fonts/font13.fntdata"/><Relationship Id="rId30" Type="http://schemas.openxmlformats.org/officeDocument/2006/relationships/font" Target="fonts/font12.fntdata"/><Relationship Id="rId3" Type="http://schemas.openxmlformats.org/officeDocument/2006/relationships/slideMaster" Target="slideMasters/slideMaster2.xml"/><Relationship Id="rId29" Type="http://schemas.openxmlformats.org/officeDocument/2006/relationships/font" Target="fonts/font11.fntdata"/><Relationship Id="rId28" Type="http://schemas.openxmlformats.org/officeDocument/2006/relationships/font" Target="fonts/font10.fntdata"/><Relationship Id="rId27" Type="http://schemas.openxmlformats.org/officeDocument/2006/relationships/font" Target="fonts/font9.fntdata"/><Relationship Id="rId26" Type="http://schemas.openxmlformats.org/officeDocument/2006/relationships/font" Target="fonts/font8.fntdata"/><Relationship Id="rId25" Type="http://schemas.openxmlformats.org/officeDocument/2006/relationships/font" Target="fonts/font7.fntdata"/><Relationship Id="rId24" Type="http://schemas.openxmlformats.org/officeDocument/2006/relationships/font" Target="fonts/font6.fntdata"/><Relationship Id="rId23" Type="http://schemas.openxmlformats.org/officeDocument/2006/relationships/font" Target="fonts/font5.fntdata"/><Relationship Id="rId22" Type="http://schemas.openxmlformats.org/officeDocument/2006/relationships/font" Target="fonts/font4.fntdata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as a Java-based restaurant management application. Name the two presenters, the course, the course code, and Project No. 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complete abstract, then explain the manual-ordering context and the seven project objectives.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every manual-system weakness with the proposed computerized approach, then close on the three-part conclusion: Simple, Fast, Accurate.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the implementation to all three course outcomes: structured problem solving and Java foundations, selection and iteration, and arrays with data processing.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every numbered algorithm step. The flowchart validates service type, rejects unavailable items, loops for another item until number &gt; 18, then generates the bill, displays the order and total, shows confirmation, and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object-oriented programming through the class-as-blueprint and object-as-instance relationship. Cover fields, methods, new, null, constructors, this, encapsulation, static members, constants, and toString().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left side as an editable inheritance and interface diagram. Then walk the right-side exception flow from try through catch or multi-catch to finally, distinguishing throw from throws.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String as an immutable abstraction, contrast value comparison with reference comparison, then show mutable builders, tokenization, validation, and the standard library sorting and searching algorithms.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a text file from Path and Files through reading, validation, processing, writing, or appending. Emphasize complete-file and line-by-line processing, malformed records, missing files, and automatic cleanup with try-with-resources.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3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image" Target="../media/image4.png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image" Target="../media/image5.png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image" Target="../media/image6.png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8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/>
          <p:nvPr userDrawn="1">
            <p:custDataLst>
              <p:tags r:id="rId2"/>
            </p:custDataLst>
          </p:nvPr>
        </p:nvSpPr>
        <p:spPr>
          <a:xfrm>
            <a:off x="6055646" y="826410"/>
            <a:ext cx="5908985" cy="5793632"/>
          </a:xfrm>
          <a:custGeom>
            <a:avLst/>
            <a:gdLst>
              <a:gd name="connsiteX0" fmla="*/ 3879682 w 5909293"/>
              <a:gd name="connsiteY0" fmla="*/ 175 h 5793934"/>
              <a:gd name="connsiteX1" fmla="*/ 4334567 w 5909293"/>
              <a:gd name="connsiteY1" fmla="*/ 60453 h 5793934"/>
              <a:gd name="connsiteX2" fmla="*/ 5246308 w 5909293"/>
              <a:gd name="connsiteY2" fmla="*/ 1122598 h 5793934"/>
              <a:gd name="connsiteX3" fmla="*/ 5872742 w 5909293"/>
              <a:gd name="connsiteY3" fmla="*/ 3288868 h 5793934"/>
              <a:gd name="connsiteX4" fmla="*/ 5819651 w 5909293"/>
              <a:gd name="connsiteY4" fmla="*/ 4125030 h 5793934"/>
              <a:gd name="connsiteX5" fmla="*/ 5157837 w 5909293"/>
              <a:gd name="connsiteY5" fmla="*/ 4912778 h 5793934"/>
              <a:gd name="connsiteX6" fmla="*/ 3379536 w 5909293"/>
              <a:gd name="connsiteY6" fmla="*/ 5735681 h 5793934"/>
              <a:gd name="connsiteX7" fmla="*/ 2078353 w 5909293"/>
              <a:gd name="connsiteY7" fmla="*/ 5726438 h 5793934"/>
              <a:gd name="connsiteX8" fmla="*/ 1489530 w 5909293"/>
              <a:gd name="connsiteY8" fmla="*/ 5363600 h 5793934"/>
              <a:gd name="connsiteX9" fmla="*/ 1035251 w 5909293"/>
              <a:gd name="connsiteY9" fmla="*/ 4220617 h 5793934"/>
              <a:gd name="connsiteX10" fmla="*/ 602247 w 5909293"/>
              <a:gd name="connsiteY10" fmla="*/ 3634929 h 5793934"/>
              <a:gd name="connsiteX11" fmla="*/ 169546 w 5909293"/>
              <a:gd name="connsiteY11" fmla="*/ 2942699 h 5793934"/>
              <a:gd name="connsiteX12" fmla="*/ 652478 w 5909293"/>
              <a:gd name="connsiteY12" fmla="*/ 842508 h 5793934"/>
              <a:gd name="connsiteX13" fmla="*/ 1316613 w 5909293"/>
              <a:gd name="connsiteY13" fmla="*/ 445895 h 5793934"/>
              <a:gd name="connsiteX14" fmla="*/ 1375567 w 5909293"/>
              <a:gd name="connsiteY14" fmla="*/ 424437 h 5793934"/>
              <a:gd name="connsiteX15" fmla="*/ 3408460 w 5909293"/>
              <a:gd name="connsiteY15" fmla="*/ 39296 h 5793934"/>
              <a:gd name="connsiteX16" fmla="*/ 3879682 w 5909293"/>
              <a:gd name="connsiteY16" fmla="*/ 175 h 5793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909293" h="5793934">
                <a:moveTo>
                  <a:pt x="3879682" y="175"/>
                </a:moveTo>
                <a:cubicBezTo>
                  <a:pt x="4036099" y="-1809"/>
                  <a:pt x="4189792" y="12773"/>
                  <a:pt x="4334567" y="60453"/>
                </a:cubicBezTo>
                <a:cubicBezTo>
                  <a:pt x="4813657" y="215756"/>
                  <a:pt x="5066087" y="681130"/>
                  <a:pt x="5246308" y="1122598"/>
                </a:cubicBezTo>
                <a:cubicBezTo>
                  <a:pt x="5530593" y="1818660"/>
                  <a:pt x="5740779" y="2546018"/>
                  <a:pt x="5872742" y="3288868"/>
                </a:cubicBezTo>
                <a:cubicBezTo>
                  <a:pt x="5918136" y="3538857"/>
                  <a:pt x="5941127" y="3794404"/>
                  <a:pt x="5819651" y="4125030"/>
                </a:cubicBezTo>
                <a:cubicBezTo>
                  <a:pt x="5698175" y="4455657"/>
                  <a:pt x="5555500" y="4602769"/>
                  <a:pt x="5157837" y="4912778"/>
                </a:cubicBezTo>
                <a:cubicBezTo>
                  <a:pt x="4760174" y="5222787"/>
                  <a:pt x="3749504" y="5653807"/>
                  <a:pt x="3379536" y="5735681"/>
                </a:cubicBezTo>
                <a:cubicBezTo>
                  <a:pt x="3009569" y="5817556"/>
                  <a:pt x="2330918" y="5811898"/>
                  <a:pt x="2078353" y="5726438"/>
                </a:cubicBezTo>
                <a:cubicBezTo>
                  <a:pt x="1825789" y="5640979"/>
                  <a:pt x="1633575" y="5511056"/>
                  <a:pt x="1489530" y="5363600"/>
                </a:cubicBezTo>
                <a:cubicBezTo>
                  <a:pt x="1194462" y="5065173"/>
                  <a:pt x="1220104" y="4592041"/>
                  <a:pt x="1035251" y="4220617"/>
                </a:cubicBezTo>
                <a:cubicBezTo>
                  <a:pt x="929927" y="4002824"/>
                  <a:pt x="753122" y="3825759"/>
                  <a:pt x="602247" y="3634929"/>
                </a:cubicBezTo>
                <a:cubicBezTo>
                  <a:pt x="430739" y="3418728"/>
                  <a:pt x="291908" y="3187171"/>
                  <a:pt x="169546" y="2942699"/>
                </a:cubicBezTo>
                <a:cubicBezTo>
                  <a:pt x="-176217" y="2249976"/>
                  <a:pt x="17688" y="1398039"/>
                  <a:pt x="652478" y="842508"/>
                </a:cubicBezTo>
                <a:cubicBezTo>
                  <a:pt x="844971" y="671207"/>
                  <a:pt x="1070014" y="535650"/>
                  <a:pt x="1316613" y="445895"/>
                </a:cubicBezTo>
                <a:cubicBezTo>
                  <a:pt x="1336025" y="438830"/>
                  <a:pt x="1354717" y="432026"/>
                  <a:pt x="1375567" y="424437"/>
                </a:cubicBezTo>
                <a:cubicBezTo>
                  <a:pt x="2029851" y="208795"/>
                  <a:pt x="2725822" y="123350"/>
                  <a:pt x="3408460" y="39296"/>
                </a:cubicBezTo>
                <a:cubicBezTo>
                  <a:pt x="3564127" y="20711"/>
                  <a:pt x="3723266" y="2160"/>
                  <a:pt x="3879682" y="175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vert="horz" wrap="square" lIns="91435" tIns="45717" rIns="91435" bIns="45717" numCol="1" anchor="t" anchorCtr="0" compatLnSpc="1"/>
          <a:lstStyle/>
          <a:p>
            <a:pPr lvl="0"/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27" name="图片 26" descr="无人机5资源 1@600x-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434047" y="1677761"/>
            <a:ext cx="6643024" cy="518006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702908" y="882148"/>
            <a:ext cx="7170047" cy="2575426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sym typeface="+mn-ea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01638" y="3740134"/>
            <a:ext cx="2880845" cy="5803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chemeClr val="lt1">
                    <a:lumMod val="100000"/>
                  </a:schemeClr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8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9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20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289" y="1276462"/>
            <a:ext cx="10798913" cy="490131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标题 6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6"/>
          <p:cNvSpPr/>
          <p:nvPr>
            <p:custDataLst>
              <p:tags r:id="rId2"/>
            </p:custDataLst>
          </p:nvPr>
        </p:nvSpPr>
        <p:spPr bwMode="auto">
          <a:xfrm>
            <a:off x="837521" y="3313436"/>
            <a:ext cx="3971718" cy="3523431"/>
          </a:xfrm>
          <a:custGeom>
            <a:avLst/>
            <a:gdLst>
              <a:gd name="T0" fmla="*/ 1557 w 2458"/>
              <a:gd name="T1" fmla="*/ 0 h 2180"/>
              <a:gd name="T2" fmla="*/ 1529 w 2458"/>
              <a:gd name="T3" fmla="*/ 0 h 2180"/>
              <a:gd name="T4" fmla="*/ 618 w 2458"/>
              <a:gd name="T5" fmla="*/ 140 h 2180"/>
              <a:gd name="T6" fmla="*/ 233 w 2458"/>
              <a:gd name="T7" fmla="*/ 281 h 2180"/>
              <a:gd name="T8" fmla="*/ 13 w 2458"/>
              <a:gd name="T9" fmla="*/ 831 h 2180"/>
              <a:gd name="T10" fmla="*/ 81 w 2458"/>
              <a:gd name="T11" fmla="*/ 1775 h 2180"/>
              <a:gd name="T12" fmla="*/ 215 w 2458"/>
              <a:gd name="T13" fmla="*/ 2066 h 2180"/>
              <a:gd name="T14" fmla="*/ 645 w 2458"/>
              <a:gd name="T15" fmla="*/ 2180 h 2180"/>
              <a:gd name="T16" fmla="*/ 1805 w 2458"/>
              <a:gd name="T17" fmla="*/ 2180 h 2180"/>
              <a:gd name="T18" fmla="*/ 2036 w 2458"/>
              <a:gd name="T19" fmla="*/ 2135 h 2180"/>
              <a:gd name="T20" fmla="*/ 2235 w 2458"/>
              <a:gd name="T21" fmla="*/ 1964 h 2180"/>
              <a:gd name="T22" fmla="*/ 2251 w 2458"/>
              <a:gd name="T23" fmla="*/ 1448 h 2180"/>
              <a:gd name="T24" fmla="*/ 2343 w 2458"/>
              <a:gd name="T25" fmla="*/ 1155 h 2180"/>
              <a:gd name="T26" fmla="*/ 2419 w 2458"/>
              <a:gd name="T27" fmla="*/ 820 h 2180"/>
              <a:gd name="T28" fmla="*/ 1896 w 2458"/>
              <a:gd name="T29" fmla="*/ 61 h 2180"/>
              <a:gd name="T30" fmla="*/ 1557 w 2458"/>
              <a:gd name="T31" fmla="*/ 0 h 2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458" h="2180">
                <a:moveTo>
                  <a:pt x="1557" y="0"/>
                </a:moveTo>
                <a:cubicBezTo>
                  <a:pt x="1548" y="0"/>
                  <a:pt x="1539" y="0"/>
                  <a:pt x="1529" y="0"/>
                </a:cubicBezTo>
                <a:cubicBezTo>
                  <a:pt x="1222" y="9"/>
                  <a:pt x="917" y="75"/>
                  <a:pt x="618" y="140"/>
                </a:cubicBezTo>
                <a:cubicBezTo>
                  <a:pt x="482" y="170"/>
                  <a:pt x="340" y="202"/>
                  <a:pt x="233" y="281"/>
                </a:cubicBezTo>
                <a:cubicBezTo>
                  <a:pt x="56" y="411"/>
                  <a:pt x="21" y="631"/>
                  <a:pt x="13" y="831"/>
                </a:cubicBezTo>
                <a:cubicBezTo>
                  <a:pt x="0" y="1146"/>
                  <a:pt x="23" y="1463"/>
                  <a:pt x="81" y="1775"/>
                </a:cubicBezTo>
                <a:cubicBezTo>
                  <a:pt x="100" y="1880"/>
                  <a:pt x="128" y="1991"/>
                  <a:pt x="215" y="2066"/>
                </a:cubicBezTo>
                <a:cubicBezTo>
                  <a:pt x="323" y="2159"/>
                  <a:pt x="491" y="2172"/>
                  <a:pt x="645" y="2180"/>
                </a:cubicBezTo>
                <a:cubicBezTo>
                  <a:pt x="1805" y="2180"/>
                  <a:pt x="1805" y="2180"/>
                  <a:pt x="1805" y="2180"/>
                </a:cubicBezTo>
                <a:cubicBezTo>
                  <a:pt x="1884" y="2180"/>
                  <a:pt x="1963" y="2165"/>
                  <a:pt x="2036" y="2135"/>
                </a:cubicBezTo>
                <a:cubicBezTo>
                  <a:pt x="2124" y="2098"/>
                  <a:pt x="2197" y="2043"/>
                  <a:pt x="2235" y="1964"/>
                </a:cubicBezTo>
                <a:cubicBezTo>
                  <a:pt x="2313" y="1804"/>
                  <a:pt x="2230" y="1621"/>
                  <a:pt x="2251" y="1448"/>
                </a:cubicBezTo>
                <a:cubicBezTo>
                  <a:pt x="2262" y="1347"/>
                  <a:pt x="2309" y="1252"/>
                  <a:pt x="2343" y="1155"/>
                </a:cubicBezTo>
                <a:cubicBezTo>
                  <a:pt x="2382" y="1045"/>
                  <a:pt x="2405" y="934"/>
                  <a:pt x="2419" y="820"/>
                </a:cubicBezTo>
                <a:cubicBezTo>
                  <a:pt x="2458" y="497"/>
                  <a:pt x="2247" y="189"/>
                  <a:pt x="1896" y="61"/>
                </a:cubicBezTo>
                <a:cubicBezTo>
                  <a:pt x="1789" y="21"/>
                  <a:pt x="1674" y="0"/>
                  <a:pt x="1557" y="0"/>
                </a:cubicBezTo>
              </a:path>
            </a:pathLst>
          </a:custGeom>
          <a:solidFill>
            <a:schemeClr val="accent1">
              <a:alpha val="17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35" tIns="45717" rIns="91435" bIns="45717" numCol="1" anchor="t" anchorCtr="0" compatLnSpc="1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837521" y="565299"/>
            <a:ext cx="3506922" cy="1081349"/>
          </a:xfrm>
        </p:spPr>
        <p:txBody>
          <a:bodyPr wrap="square" anchor="ctr" anchorCtr="0">
            <a:normAutofit/>
          </a:bodyPr>
          <a:lstStyle>
            <a:lvl1pPr algn="l">
              <a:defRPr sz="4800">
                <a:solidFill>
                  <a:schemeClr val="accent1"/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50" r="27352"/>
          <a:stretch>
            <a:fillRect/>
          </a:stretch>
        </p:blipFill>
        <p:spPr>
          <a:xfrm>
            <a:off x="1198183" y="2017469"/>
            <a:ext cx="3555815" cy="4831463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6"/>
          <p:cNvSpPr/>
          <p:nvPr userDrawn="1">
            <p:custDataLst>
              <p:tags r:id="rId2"/>
            </p:custDataLst>
          </p:nvPr>
        </p:nvSpPr>
        <p:spPr bwMode="auto">
          <a:xfrm rot="6240000" flipH="1">
            <a:off x="1155640" y="2376225"/>
            <a:ext cx="2943072" cy="3514542"/>
          </a:xfrm>
          <a:custGeom>
            <a:avLst/>
            <a:gdLst>
              <a:gd name="connsiteX0" fmla="*/ 4417 w 6611"/>
              <a:gd name="connsiteY0" fmla="*/ 31 h 6706"/>
              <a:gd name="connsiteX1" fmla="*/ 3525 w 6611"/>
              <a:gd name="connsiteY1" fmla="*/ 35 h 6706"/>
              <a:gd name="connsiteX2" fmla="*/ 1943 w 6611"/>
              <a:gd name="connsiteY2" fmla="*/ 444 h 6706"/>
              <a:gd name="connsiteX3" fmla="*/ 850 w 6611"/>
              <a:gd name="connsiteY3" fmla="*/ 1131 h 6706"/>
              <a:gd name="connsiteX4" fmla="*/ 7 w 6611"/>
              <a:gd name="connsiteY4" fmla="*/ 2491 h 6706"/>
              <a:gd name="connsiteX5" fmla="*/ 211 w 6611"/>
              <a:gd name="connsiteY5" fmla="*/ 4826 h 6706"/>
              <a:gd name="connsiteX6" fmla="*/ 752 w 6611"/>
              <a:gd name="connsiteY6" fmla="*/ 5937 h 6706"/>
              <a:gd name="connsiteX7" fmla="*/ 1926 w 6611"/>
              <a:gd name="connsiteY7" fmla="*/ 6575 h 6706"/>
              <a:gd name="connsiteX8" fmla="*/ 4060 w 6611"/>
              <a:gd name="connsiteY8" fmla="*/ 6611 h 6706"/>
              <a:gd name="connsiteX9" fmla="*/ 5547 w 6611"/>
              <a:gd name="connsiteY9" fmla="*/ 5965 h 6706"/>
              <a:gd name="connsiteX10" fmla="*/ 6120 w 6611"/>
              <a:gd name="connsiteY10" fmla="*/ 5119 h 6706"/>
              <a:gd name="connsiteX11" fmla="*/ 6193 w 6611"/>
              <a:gd name="connsiteY11" fmla="*/ 4057 h 6706"/>
              <a:gd name="connsiteX12" fmla="*/ 6398 w 6611"/>
              <a:gd name="connsiteY12" fmla="*/ 3222 h 6706"/>
              <a:gd name="connsiteX13" fmla="*/ 6599 w 6611"/>
              <a:gd name="connsiteY13" fmla="*/ 2281 h 6706"/>
              <a:gd name="connsiteX14" fmla="*/ 5278 w 6611"/>
              <a:gd name="connsiteY14" fmla="*/ 246 h 6706"/>
              <a:gd name="connsiteX15" fmla="*/ 4417 w 6611"/>
              <a:gd name="connsiteY15" fmla="*/ 31 h 6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0" t="0" r="r" b="b"/>
            <a:pathLst>
              <a:path w="6612" h="6706">
                <a:moveTo>
                  <a:pt x="4417" y="31"/>
                </a:moveTo>
                <a:cubicBezTo>
                  <a:pt x="4275" y="12"/>
                  <a:pt x="4045" y="-31"/>
                  <a:pt x="3525" y="35"/>
                </a:cubicBezTo>
                <a:cubicBezTo>
                  <a:pt x="3006" y="101"/>
                  <a:pt x="2368" y="252"/>
                  <a:pt x="1943" y="444"/>
                </a:cubicBezTo>
                <a:cubicBezTo>
                  <a:pt x="1518" y="636"/>
                  <a:pt x="1206" y="810"/>
                  <a:pt x="850" y="1131"/>
                </a:cubicBezTo>
                <a:cubicBezTo>
                  <a:pt x="494" y="1452"/>
                  <a:pt x="28" y="1938"/>
                  <a:pt x="7" y="2491"/>
                </a:cubicBezTo>
                <a:cubicBezTo>
                  <a:pt x="-27" y="3362"/>
                  <a:pt x="58" y="4271"/>
                  <a:pt x="211" y="4826"/>
                </a:cubicBezTo>
                <a:cubicBezTo>
                  <a:pt x="364" y="5381"/>
                  <a:pt x="482" y="5677"/>
                  <a:pt x="752" y="5937"/>
                </a:cubicBezTo>
                <a:cubicBezTo>
                  <a:pt x="1022" y="6197"/>
                  <a:pt x="1328" y="6417"/>
                  <a:pt x="1926" y="6575"/>
                </a:cubicBezTo>
                <a:cubicBezTo>
                  <a:pt x="2524" y="6733"/>
                  <a:pt x="3366" y="6751"/>
                  <a:pt x="4060" y="6611"/>
                </a:cubicBezTo>
                <a:cubicBezTo>
                  <a:pt x="4755" y="6471"/>
                  <a:pt x="5352" y="6115"/>
                  <a:pt x="5547" y="5965"/>
                </a:cubicBezTo>
                <a:cubicBezTo>
                  <a:pt x="5742" y="5815"/>
                  <a:pt x="6019" y="5562"/>
                  <a:pt x="6120" y="5119"/>
                </a:cubicBezTo>
                <a:cubicBezTo>
                  <a:pt x="6221" y="4677"/>
                  <a:pt x="6140" y="4535"/>
                  <a:pt x="6193" y="4057"/>
                </a:cubicBezTo>
                <a:cubicBezTo>
                  <a:pt x="6221" y="3778"/>
                  <a:pt x="6310" y="3490"/>
                  <a:pt x="6398" y="3222"/>
                </a:cubicBezTo>
                <a:cubicBezTo>
                  <a:pt x="6538" y="2812"/>
                  <a:pt x="6563" y="2596"/>
                  <a:pt x="6599" y="2281"/>
                </a:cubicBezTo>
                <a:cubicBezTo>
                  <a:pt x="6700" y="1390"/>
                  <a:pt x="6184" y="599"/>
                  <a:pt x="5278" y="246"/>
                </a:cubicBezTo>
                <a:cubicBezTo>
                  <a:pt x="5003" y="136"/>
                  <a:pt x="4559" y="50"/>
                  <a:pt x="4417" y="31"/>
                </a:cubicBezTo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vert="horz" wrap="square" lIns="91435" tIns="45717" rIns="91435" bIns="45717" numCol="1" anchor="t" anchorCtr="0" compatLnSpc="1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7" name="图片 6" descr="D:\工作文件\临时素材\无人机5资源-1@600x-8.png无人机5资源-1@600x-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rcRect l="150" r="150"/>
          <a:stretch>
            <a:fillRect/>
          </a:stretch>
        </p:blipFill>
        <p:spPr>
          <a:xfrm>
            <a:off x="869905" y="1550133"/>
            <a:ext cx="3757734" cy="326246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460716" y="3408046"/>
            <a:ext cx="5892493" cy="1761398"/>
          </a:xfrm>
        </p:spPr>
        <p:txBody>
          <a:bodyPr wrap="square" lIns="0" tIns="0" rIns="0" bIns="0" anchor="t" anchorCtr="0">
            <a:normAutofit/>
          </a:bodyPr>
          <a:lstStyle>
            <a:lvl1pPr algn="l">
              <a:defRPr sz="4400" spc="0" baseline="0">
                <a:solidFill>
                  <a:schemeClr val="accent1"/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5460716" y="2364795"/>
            <a:ext cx="5892493" cy="960070"/>
          </a:xfrm>
          <a:prstGeom prst="roundRect">
            <a:avLst>
              <a:gd name="adj" fmla="val 0"/>
            </a:avLst>
          </a:prstGeom>
          <a:noFill/>
        </p:spPr>
        <p:txBody>
          <a:bodyPr wrap="square" anchor="b" anchorCtr="0">
            <a:normAutofit/>
          </a:bodyPr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buNone/>
              <a:defRPr sz="4800" b="1" u="none" strike="noStrike" kern="1200" cap="none" spc="0" normalizeH="0" baseline="0">
                <a:solidFill>
                  <a:schemeClr val="accent1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4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15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6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289" y="1276462"/>
            <a:ext cx="5324198" cy="490099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1879" y="1276462"/>
            <a:ext cx="5322323" cy="490099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290" y="1276462"/>
            <a:ext cx="5301974" cy="463361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3"/>
            </p:custDataLst>
          </p:nvPr>
        </p:nvSpPr>
        <p:spPr>
          <a:xfrm>
            <a:off x="695290" y="2061346"/>
            <a:ext cx="5301974" cy="4128173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1879" y="1276462"/>
            <a:ext cx="5328960" cy="463361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5"/>
            </p:custDataLst>
          </p:nvPr>
        </p:nvSpPr>
        <p:spPr>
          <a:xfrm>
            <a:off x="6171879" y="2061346"/>
            <a:ext cx="5328960" cy="4128173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 dirty="0"/>
          </a:p>
        </p:txBody>
      </p:sp>
      <p:sp>
        <p:nvSpPr>
          <p:cNvPr id="13" name="标题 12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289" y="360160"/>
            <a:ext cx="10805550" cy="5817297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289" y="1296111"/>
            <a:ext cx="10805550" cy="575970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4" name="标题 3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>
            <p:custDataLst>
              <p:tags r:id="rId2"/>
            </p:custDataLst>
          </p:nvPr>
        </p:nvSpPr>
        <p:spPr>
          <a:xfrm>
            <a:off x="6216903" y="855033"/>
            <a:ext cx="5597274" cy="5917132"/>
          </a:xfrm>
          <a:custGeom>
            <a:avLst/>
            <a:gdLst>
              <a:gd name="connsiteX0" fmla="*/ 3604196 w 5597566"/>
              <a:gd name="connsiteY0" fmla="*/ 127 h 5917440"/>
              <a:gd name="connsiteX1" fmla="*/ 5020674 w 5597566"/>
              <a:gd name="connsiteY1" fmla="*/ 776538 h 5917440"/>
              <a:gd name="connsiteX2" fmla="*/ 5376373 w 5597566"/>
              <a:gd name="connsiteY2" fmla="*/ 1444944 h 5917440"/>
              <a:gd name="connsiteX3" fmla="*/ 5557177 w 5597566"/>
              <a:gd name="connsiteY3" fmla="*/ 2184215 h 5917440"/>
              <a:gd name="connsiteX4" fmla="*/ 5545132 w 5597566"/>
              <a:gd name="connsiteY4" fmla="*/ 3578297 h 5917440"/>
              <a:gd name="connsiteX5" fmla="*/ 5202018 w 5597566"/>
              <a:gd name="connsiteY5" fmla="*/ 4624938 h 5917440"/>
              <a:gd name="connsiteX6" fmla="*/ 4250176 w 5597566"/>
              <a:gd name="connsiteY6" fmla="*/ 5603523 h 5917440"/>
              <a:gd name="connsiteX7" fmla="*/ 2275095 w 5597566"/>
              <a:gd name="connsiteY7" fmla="*/ 5916586 h 5917440"/>
              <a:gd name="connsiteX8" fmla="*/ 1243715 w 5597566"/>
              <a:gd name="connsiteY8" fmla="*/ 5698027 h 5917440"/>
              <a:gd name="connsiteX9" fmla="*/ 473239 w 5597566"/>
              <a:gd name="connsiteY9" fmla="*/ 4857811 h 5917440"/>
              <a:gd name="connsiteX10" fmla="*/ 2965 w 5597566"/>
              <a:gd name="connsiteY10" fmla="*/ 3098601 h 5917440"/>
              <a:gd name="connsiteX11" fmla="*/ 230813 w 5597566"/>
              <a:gd name="connsiteY11" fmla="*/ 1734249 h 5917440"/>
              <a:gd name="connsiteX12" fmla="*/ 812883 w 5597566"/>
              <a:gd name="connsiteY12" fmla="*/ 1085274 h 5917440"/>
              <a:gd name="connsiteX13" fmla="*/ 1676967 w 5597566"/>
              <a:gd name="connsiteY13" fmla="*/ 805643 h 5917440"/>
              <a:gd name="connsiteX14" fmla="*/ 2325887 w 5597566"/>
              <a:gd name="connsiteY14" fmla="*/ 463589 h 5917440"/>
              <a:gd name="connsiteX15" fmla="*/ 3063384 w 5597566"/>
              <a:gd name="connsiteY15" fmla="*/ 102968 h 5917440"/>
              <a:gd name="connsiteX16" fmla="*/ 3604196 w 5597566"/>
              <a:gd name="connsiteY16" fmla="*/ 127 h 5917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597566" h="5917440">
                <a:moveTo>
                  <a:pt x="3604196" y="127"/>
                </a:moveTo>
                <a:cubicBezTo>
                  <a:pt x="4143157" y="-6764"/>
                  <a:pt x="4661253" y="268656"/>
                  <a:pt x="5020674" y="776538"/>
                </a:cubicBezTo>
                <a:cubicBezTo>
                  <a:pt x="5168497" y="981494"/>
                  <a:pt x="5331334" y="1331311"/>
                  <a:pt x="5376373" y="1444944"/>
                </a:cubicBezTo>
                <a:cubicBezTo>
                  <a:pt x="5421411" y="1558578"/>
                  <a:pt x="5504481" y="1740109"/>
                  <a:pt x="5557177" y="2184215"/>
                </a:cubicBezTo>
                <a:cubicBezTo>
                  <a:pt x="5609665" y="2627494"/>
                  <a:pt x="5616351" y="3186831"/>
                  <a:pt x="5545132" y="3578297"/>
                </a:cubicBezTo>
                <a:cubicBezTo>
                  <a:pt x="5473912" y="3969764"/>
                  <a:pt x="5394269" y="4263968"/>
                  <a:pt x="5202018" y="4624938"/>
                </a:cubicBezTo>
                <a:cubicBezTo>
                  <a:pt x="5009767" y="4985909"/>
                  <a:pt x="4703629" y="5471999"/>
                  <a:pt x="4250176" y="5603523"/>
                </a:cubicBezTo>
                <a:cubicBezTo>
                  <a:pt x="3536157" y="5811445"/>
                  <a:pt x="2766119" y="5928695"/>
                  <a:pt x="2275095" y="5916586"/>
                </a:cubicBezTo>
                <a:cubicBezTo>
                  <a:pt x="1784072" y="5904476"/>
                  <a:pt x="1514679" y="5867884"/>
                  <a:pt x="1243715" y="5698027"/>
                </a:cubicBezTo>
                <a:cubicBezTo>
                  <a:pt x="972750" y="5528171"/>
                  <a:pt x="727468" y="5320256"/>
                  <a:pt x="473239" y="4857811"/>
                </a:cubicBezTo>
                <a:cubicBezTo>
                  <a:pt x="219012" y="4395366"/>
                  <a:pt x="30316" y="3702028"/>
                  <a:pt x="2965" y="3098601"/>
                </a:cubicBezTo>
                <a:cubicBezTo>
                  <a:pt x="-24592" y="2494347"/>
                  <a:pt x="146889" y="1926640"/>
                  <a:pt x="230813" y="1734249"/>
                </a:cubicBezTo>
                <a:cubicBezTo>
                  <a:pt x="314738" y="1541857"/>
                  <a:pt x="467003" y="1260322"/>
                  <a:pt x="812883" y="1085274"/>
                </a:cubicBezTo>
                <a:cubicBezTo>
                  <a:pt x="1157935" y="910432"/>
                  <a:pt x="1292205" y="948179"/>
                  <a:pt x="1676967" y="805643"/>
                </a:cubicBezTo>
                <a:cubicBezTo>
                  <a:pt x="1902150" y="724878"/>
                  <a:pt x="2122194" y="591756"/>
                  <a:pt x="2325887" y="463589"/>
                </a:cubicBezTo>
                <a:cubicBezTo>
                  <a:pt x="2636399" y="263066"/>
                  <a:pt x="2810049" y="197787"/>
                  <a:pt x="3063384" y="102968"/>
                </a:cubicBezTo>
                <a:cubicBezTo>
                  <a:pt x="3242571" y="36089"/>
                  <a:pt x="3424543" y="2424"/>
                  <a:pt x="3604196" y="127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vert="horz" wrap="square" lIns="91435" tIns="45717" rIns="91435" bIns="45717" numCol="1" anchor="t" anchorCtr="0" compatLnSpc="1"/>
          <a:lstStyle/>
          <a:p>
            <a:pPr lvl="0"/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56" t="-1" r="15418" b="631"/>
          <a:stretch>
            <a:fillRect/>
          </a:stretch>
        </p:blipFill>
        <p:spPr>
          <a:xfrm>
            <a:off x="5990278" y="2422577"/>
            <a:ext cx="5416903" cy="443206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695289" y="1305037"/>
            <a:ext cx="5400394" cy="2152538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5400"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152" y="6356198"/>
            <a:ext cx="2743057" cy="365106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01963" y="3740769"/>
            <a:ext cx="2879850" cy="57957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lt1">
                    <a:lumMod val="100000"/>
                  </a:schemeClr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0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8" Type="http://schemas.openxmlformats.org/officeDocument/2006/relationships/theme" Target="../theme/theme2.xml"/><Relationship Id="rId17" Type="http://schemas.openxmlformats.org/officeDocument/2006/relationships/tags" Target="../tags/tag68.xml"/><Relationship Id="rId16" Type="http://schemas.openxmlformats.org/officeDocument/2006/relationships/tags" Target="../tags/tag67.xml"/><Relationship Id="rId15" Type="http://schemas.openxmlformats.org/officeDocument/2006/relationships/tags" Target="../tags/tag66.xml"/><Relationship Id="rId14" Type="http://schemas.openxmlformats.org/officeDocument/2006/relationships/tags" Target="../tags/tag65.xml"/><Relationship Id="rId13" Type="http://schemas.openxmlformats.org/officeDocument/2006/relationships/tags" Target="../tags/tag64.xml"/><Relationship Id="rId12" Type="http://schemas.openxmlformats.org/officeDocument/2006/relationships/tags" Target="../tags/tag63.xml"/><Relationship Id="rId11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3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94764" y="360160"/>
            <a:ext cx="10799438" cy="719963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95289" y="1283447"/>
            <a:ext cx="10800787" cy="48943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95289" y="6356198"/>
            <a:ext cx="2885925" cy="365106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038390" y="6356198"/>
            <a:ext cx="4114586" cy="36510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610152" y="6356198"/>
            <a:ext cx="2884050" cy="365106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17"/>
            </p:custDataLst>
          </p:nvPr>
        </p:nvSpPr>
        <p:spPr>
          <a:xfrm>
            <a:off x="0" y="179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71.xml"/><Relationship Id="rId3" Type="http://schemas.openxmlformats.org/officeDocument/2006/relationships/image" Target="../media/image8.pn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4.xml"/><Relationship Id="rId4" Type="http://schemas.openxmlformats.org/officeDocument/2006/relationships/tags" Target="../tags/tag74.xml"/><Relationship Id="rId3" Type="http://schemas.openxmlformats.org/officeDocument/2006/relationships/image" Target="../media/image9.png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631508"/>
            <a:ext cx="11480513" cy="1980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192" dirty="0">
                <a:solidFill>
                  <a:srgbClr val="FFFFFF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JAVA APPLICATION · PROJECT 15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60383" y="1178385"/>
            <a:ext cx="10870928" cy="105985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3900" kern="100" spc="-47" dirty="0">
                <a:solidFill>
                  <a:srgbClr val="FFFFFF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Restaurant Order,</a:t>
            </a:r>
            <a:endParaRPr lang="en-US" sz="3900" dirty="0"/>
          </a:p>
          <a:p>
            <a:pPr marL="0" indent="0" algn="l">
              <a:lnSpc>
                <a:spcPct val="89000"/>
              </a:lnSpc>
              <a:buNone/>
            </a:pPr>
            <a:r>
              <a:rPr lang="en-US" sz="3900" kern="100" spc="-47" dirty="0">
                <a:solidFill>
                  <a:srgbClr val="FFFFFF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Kitchen &amp; Billing System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660383" y="2383179"/>
            <a:ext cx="10870928" cy="3184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A Java-based restaurant management application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60383" y="5003602"/>
            <a:ext cx="2717633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</p:spPr>
      </p:sp>
      <p:sp>
        <p:nvSpPr>
          <p:cNvPr id="6" name="Text 4"/>
          <p:cNvSpPr/>
          <p:nvPr/>
        </p:nvSpPr>
        <p:spPr>
          <a:xfrm>
            <a:off x="660383" y="5388411"/>
            <a:ext cx="4348351" cy="1815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93" dirty="0">
                <a:solidFill>
                  <a:srgbClr val="FFFFFF"/>
                </a:solidFill>
                <a:latin typeface="Fira Mono Medium" panose="020B0609050000020004" pitchFamily="34" charset="0"/>
                <a:ea typeface="Fira Mono Medium" panose="020B0609050000020004" pitchFamily="34" charset="-122"/>
                <a:cs typeface="Fira Mono Medium" panose="020B0609050000020004" pitchFamily="34" charset="-120"/>
              </a:rPr>
              <a:t>PROJECT PRESENTED BY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0383" y="5682059"/>
            <a:ext cx="4119757" cy="5409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Tallapragada Piyush Sreeniketh (2620040032)</a:t>
            </a:r>
            <a:endParaRPr lang="en-US" sz="15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Pallikkal Pranav Nair (2620040005)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237329" y="5388411"/>
            <a:ext cx="3032644" cy="1815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93" dirty="0">
                <a:solidFill>
                  <a:srgbClr val="FFFFFF"/>
                </a:solidFill>
                <a:latin typeface="Fira Mono Medium" panose="020B0609050000020004" pitchFamily="34" charset="0"/>
                <a:ea typeface="Fira Mono Medium" panose="020B0609050000020004" pitchFamily="34" charset="-122"/>
                <a:cs typeface="Fira Mono Medium" panose="020B0609050000020004" pitchFamily="34" charset="-120"/>
              </a:rPr>
              <a:t>COURSE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237329" y="5682059"/>
            <a:ext cx="2804050" cy="5409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Problem Solving Using Programming (Java)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98568" y="5388411"/>
            <a:ext cx="3032644" cy="1815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93" dirty="0">
                <a:solidFill>
                  <a:srgbClr val="FFFFFF"/>
                </a:solidFill>
                <a:latin typeface="Fira Mono Medium" panose="020B0609050000020004" pitchFamily="34" charset="0"/>
                <a:ea typeface="Fira Mono Medium" panose="020B0609050000020004" pitchFamily="34" charset="-122"/>
                <a:cs typeface="Fira Mono Medium" panose="020B0609050000020004" pitchFamily="34" charset="-120"/>
              </a:rPr>
              <a:t>COURSE CODE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98568" y="5682059"/>
            <a:ext cx="3032644" cy="5409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26CS1101E</a:t>
            </a:r>
            <a:endParaRPr lang="en-US" sz="15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Project No.: 15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02385" y="5259189"/>
            <a:ext cx="12700" cy="1090811"/>
          </a:xfrm>
          <a:prstGeom prst="rect">
            <a:avLst/>
          </a:prstGeom>
          <a:solidFill>
            <a:srgbClr val="3F3F3F"/>
          </a:solidFill>
        </p:spPr>
      </p:sp>
      <p:sp>
        <p:nvSpPr>
          <p:cNvPr id="13" name="Shape 11"/>
          <p:cNvSpPr/>
          <p:nvPr/>
        </p:nvSpPr>
        <p:spPr>
          <a:xfrm>
            <a:off x="8263624" y="5259189"/>
            <a:ext cx="12700" cy="1090811"/>
          </a:xfrm>
          <a:prstGeom prst="rect">
            <a:avLst/>
          </a:prstGeom>
          <a:solidFill>
            <a:srgbClr val="3F3F3F"/>
          </a:solidFill>
        </p:spPr>
      </p:sp>
      <p:sp>
        <p:nvSpPr>
          <p:cNvPr id="15" name="Rectangle 14"/>
          <p:cNvSpPr/>
          <p:nvPr/>
        </p:nvSpPr>
        <p:spPr>
          <a:xfrm>
            <a:off x="10901680" y="6276340"/>
            <a:ext cx="1290320" cy="5702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185" y="459422"/>
            <a:ext cx="11607510" cy="1815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93" dirty="0">
                <a:solidFill>
                  <a:srgbClr val="B5B5B5"/>
                </a:solidFill>
                <a:latin typeface="Fira Mono Medium" panose="020B0609050000020004" pitchFamily="34" charset="0"/>
                <a:ea typeface="Fira Mono Medium" panose="020B0609050000020004" pitchFamily="34" charset="-122"/>
                <a:cs typeface="Fira Mono Medium" panose="020B0609050000020004" pitchFamily="34" charset="-120"/>
              </a:rPr>
              <a:t>ABSTRACT &amp; INTRODUCTION ·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4185" y="741418"/>
            <a:ext cx="11023324" cy="42118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3100" kern="100" spc="-37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Abstract &amp; Introduction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84185" y="1459686"/>
            <a:ext cx="5941665" cy="1980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192" dirty="0">
                <a:solidFill>
                  <a:srgbClr val="D5D5D5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ABSTRACT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84185" y="1778695"/>
            <a:ext cx="5941665" cy="19470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The Restaurant Order, Kitchen &amp; Billing System is a Java-based application designed to simplify the process of managing customer orders in a restaurant. The system allows users to select food items, enter quantities, choose between Dine-In or Takeaway, maintain the order, and automatically calculate the total bill. The project demonstrates the application of fundamental programming concepts such as arrays, selection statements, switch, input, and arithmetic operations to solve a real-world problem.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84185" y="3925471"/>
            <a:ext cx="5941665" cy="1980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192" dirty="0">
                <a:solidFill>
                  <a:srgbClr val="D5D5D5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84185" y="4244479"/>
            <a:ext cx="5941665" cy="97353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In a traditional restaurant or tiffin center, taking orders and calculating bills manually can require additional time and may lead to calculation errors. The proposed system provides a simple computerized approach for handling customer orders.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135436" y="1459686"/>
            <a:ext cx="4472074" cy="1980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192" dirty="0">
                <a:solidFill>
                  <a:srgbClr val="D5D5D5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5436" y="1778695"/>
            <a:ext cx="4472074" cy="21980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Display the available menu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Allow Dine-In or Takeaway selection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Accept food-item choices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Allow multiple items to be added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Maintain the order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Calculate the total bill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Display the final bill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24293" y="1336179"/>
            <a:ext cx="12700" cy="5140821"/>
          </a:xfrm>
          <a:prstGeom prst="rect">
            <a:avLst/>
          </a:prstGeom>
          <a:solidFill>
            <a:srgbClr val="3F3F3F"/>
          </a:solidFill>
        </p:spPr>
      </p:sp>
      <p:sp>
        <p:nvSpPr>
          <p:cNvPr id="12" name="Rectangle 11"/>
          <p:cNvSpPr/>
          <p:nvPr/>
        </p:nvSpPr>
        <p:spPr>
          <a:xfrm>
            <a:off x="10880725" y="6265545"/>
            <a:ext cx="1311275" cy="59182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901680" y="6276340"/>
            <a:ext cx="1290320" cy="5702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08622"/>
            <a:ext cx="11632909" cy="1815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93" dirty="0">
                <a:solidFill>
                  <a:srgbClr val="B5B5B5"/>
                </a:solidFill>
                <a:latin typeface="Fira Mono Medium" panose="020B0609050000020004" pitchFamily="34" charset="0"/>
                <a:ea typeface="Fira Mono Medium" panose="020B0609050000020004" pitchFamily="34" charset="-122"/>
                <a:cs typeface="Fira Mono Medium" panose="020B0609050000020004" pitchFamily="34" charset="-120"/>
              </a:rPr>
              <a:t>SYSTEM COMPARISON ·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58786" y="694015"/>
            <a:ext cx="11074123" cy="4075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3000" kern="100" spc="-36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Existing System vs Proposed 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58786" y="1420693"/>
            <a:ext cx="5257668" cy="1980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192" dirty="0">
                <a:solidFill>
                  <a:srgbClr val="D5D5D5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EXISTING SYSTEM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58786" y="1739702"/>
            <a:ext cx="5257668" cy="15555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Food orders are recorded manually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Communication between customer and staff is manual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Bill calculation may require manual effort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Tracking the status of an order is difficult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Managing multiple orders becomes inconvenient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58786" y="3494961"/>
            <a:ext cx="5257668" cy="1980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192" dirty="0">
                <a:solidFill>
                  <a:srgbClr val="D5D5D5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58786" y="3813969"/>
            <a:ext cx="5257668" cy="123428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Time-consuming process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Possibility of calculation errors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Difficult to manage repeated items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Less organized order management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75241" y="1420693"/>
            <a:ext cx="5257668" cy="1980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192" dirty="0">
                <a:solidFill>
                  <a:srgbClr val="D5D5D5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PROPOSED SYSTEM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75241" y="1739702"/>
            <a:ext cx="5257668" cy="15555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Menu display with prices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Service selection (Dine-In / Takeaway)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Item selection and order management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Automatic billing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Final bill generation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75241" y="5479752"/>
            <a:ext cx="1734896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</p:spPr>
      </p:sp>
      <p:sp>
        <p:nvSpPr>
          <p:cNvPr id="11" name="Text 9"/>
          <p:cNvSpPr/>
          <p:nvPr/>
        </p:nvSpPr>
        <p:spPr>
          <a:xfrm>
            <a:off x="6375241" y="5757247"/>
            <a:ext cx="5257668" cy="1980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192" dirty="0">
                <a:solidFill>
                  <a:srgbClr val="D5D5D5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75241" y="6076255"/>
            <a:ext cx="5257668" cy="3245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Simple • Fast • Accurate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089498" y="1271786"/>
            <a:ext cx="12700" cy="5230614"/>
          </a:xfrm>
          <a:prstGeom prst="rect">
            <a:avLst/>
          </a:prstGeom>
          <a:solidFill>
            <a:srgbClr val="3F3F3F"/>
          </a:solidFill>
        </p:spPr>
      </p:sp>
      <p:sp>
        <p:nvSpPr>
          <p:cNvPr id="14" name="Text 12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100" spc="84" dirty="0">
                <a:solidFill>
                  <a:srgbClr val="9D9D9D"/>
                </a:solidFill>
                <a:latin typeface="Fira Mono" panose="020B0509050000020004" pitchFamily="34" charset="0"/>
                <a:ea typeface="Fira Mono" panose="020B0509050000020004" pitchFamily="34" charset="-122"/>
                <a:cs typeface="Fira Mono" panose="020B0509050000020004" pitchFamily="34" charset="-120"/>
              </a:rPr>
              <a:t>03</a:t>
            </a:r>
            <a:endParaRPr lang="en-US" sz="1050" dirty="0"/>
          </a:p>
        </p:txBody>
      </p:sp>
      <p:sp>
        <p:nvSpPr>
          <p:cNvPr id="15" name="Rectangle 14"/>
          <p:cNvSpPr/>
          <p:nvPr/>
        </p:nvSpPr>
        <p:spPr>
          <a:xfrm>
            <a:off x="11046460" y="6400800"/>
            <a:ext cx="1145540" cy="45656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901680" y="6276340"/>
            <a:ext cx="1290320" cy="5702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31800"/>
            <a:ext cx="11632909" cy="1651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kern="100" spc="85" dirty="0">
                <a:solidFill>
                  <a:srgbClr val="B5B5B5"/>
                </a:solidFill>
                <a:latin typeface="Fira Mono Medium" panose="020B0609050000020004" pitchFamily="34" charset="0"/>
                <a:ea typeface="Fira Mono Medium" panose="020B0609050000020004" pitchFamily="34" charset="-122"/>
                <a:cs typeface="Fira Mono Medium" panose="020B0609050000020004" pitchFamily="34" charset="-120"/>
              </a:rPr>
              <a:t>COURSE OUTCOMES · 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58786" y="684225"/>
            <a:ext cx="11074123" cy="3709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2750" kern="100" spc="-33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CO Attainments</a:t>
            </a:r>
            <a:endParaRPr lang="en-US" sz="2750" dirty="0"/>
          </a:p>
        </p:txBody>
      </p:sp>
      <p:sp>
        <p:nvSpPr>
          <p:cNvPr id="4" name="Shape 2"/>
          <p:cNvSpPr/>
          <p:nvPr/>
        </p:nvSpPr>
        <p:spPr>
          <a:xfrm>
            <a:off x="558786" y="1196677"/>
            <a:ext cx="2214805" cy="5578376"/>
          </a:xfrm>
          <a:custGeom>
            <a:avLst/>
            <a:gdLst/>
            <a:ahLst/>
            <a:cxnLst/>
            <a:rect l="l" t="t" r="r" b="b"/>
            <a:pathLst>
              <a:path w="2214805" h="5578376">
                <a:moveTo>
                  <a:pt x="9525" y="0"/>
                </a:moveTo>
                <a:lnTo>
                  <a:pt x="2214805" y="0"/>
                </a:lnTo>
                <a:lnTo>
                  <a:pt x="2214805" y="5578376"/>
                </a:lnTo>
                <a:lnTo>
                  <a:pt x="9525" y="5578376"/>
                </a:lnTo>
                <a:arcTo wR="9525" hR="9525" stAng="5400000" swAng="5400000"/>
                <a:lnTo>
                  <a:pt x="0" y="9525"/>
                </a:lnTo>
                <a:arcTo wR="9525" hR="9525" stAng="10800000" swAng="5400000"/>
                <a:close/>
              </a:path>
            </a:pathLst>
          </a:custGeom>
          <a:solidFill>
            <a:srgbClr val="1A1A1A"/>
          </a:solidFill>
        </p:spPr>
      </p:sp>
      <p:sp>
        <p:nvSpPr>
          <p:cNvPr id="5" name="Text 3"/>
          <p:cNvSpPr/>
          <p:nvPr/>
        </p:nvSpPr>
        <p:spPr>
          <a:xfrm>
            <a:off x="812780" y="1425277"/>
            <a:ext cx="1960811" cy="1651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kern="100" spc="85" dirty="0">
                <a:solidFill>
                  <a:srgbClr val="D5D5D5"/>
                </a:solidFill>
                <a:latin typeface="Fira Mono Medium" panose="020B0609050000020004" pitchFamily="34" charset="0"/>
                <a:ea typeface="Fira Mono Medium" panose="020B0609050000020004" pitchFamily="34" charset="-122"/>
                <a:cs typeface="Fira Mono Medium" panose="020B0609050000020004" pitchFamily="34" charset="-120"/>
              </a:rPr>
              <a:t>CO1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12780" y="1670137"/>
            <a:ext cx="1706817" cy="149780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kern="100" spc="197" dirty="0">
                <a:solidFill>
                  <a:srgbClr val="D5D5D5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PROBLEM SOLVING AND JAVA FOUNDATIONS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812780" y="3315494"/>
            <a:ext cx="213216" cy="19050"/>
          </a:xfrm>
          <a:prstGeom prst="roundRect">
            <a:avLst>
              <a:gd name="adj" fmla="val 49999"/>
            </a:avLst>
          </a:prstGeom>
          <a:solidFill>
            <a:srgbClr val="9BE1FF"/>
          </a:solidFill>
        </p:spPr>
      </p:sp>
      <p:sp>
        <p:nvSpPr>
          <p:cNvPr id="8" name="Text 6"/>
          <p:cNvSpPr/>
          <p:nvPr/>
        </p:nvSpPr>
        <p:spPr>
          <a:xfrm>
            <a:off x="812780" y="3472458"/>
            <a:ext cx="1706817" cy="23925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13000"/>
              </a:lnSpc>
              <a:buSzPct val="100000"/>
              <a:buChar char="•"/>
            </a:pP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Converts a real-world problem into a structured program</a:t>
            </a:r>
            <a:endParaRPr lang="en-US" sz="1350" dirty="0"/>
          </a:p>
          <a:p>
            <a:pPr marL="274320" indent="-274320" algn="l">
              <a:lnSpc>
                <a:spcPct val="113000"/>
              </a:lnSpc>
              <a:buSzPct val="100000"/>
              <a:buChar char="•"/>
            </a:pP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Uses primitive data types, variables, expressions and console I/O for input and output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773591" y="1196677"/>
            <a:ext cx="2214805" cy="5578376"/>
          </a:xfrm>
          <a:prstGeom prst="rect">
            <a:avLst/>
          </a:prstGeom>
          <a:solidFill>
            <a:srgbClr val="262626"/>
          </a:solidFill>
        </p:spPr>
      </p:sp>
      <p:sp>
        <p:nvSpPr>
          <p:cNvPr id="10" name="Text 8"/>
          <p:cNvSpPr/>
          <p:nvPr/>
        </p:nvSpPr>
        <p:spPr>
          <a:xfrm>
            <a:off x="3027584" y="1425277"/>
            <a:ext cx="1960811" cy="1651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kern="100" spc="85" dirty="0">
                <a:solidFill>
                  <a:srgbClr val="FFFFFF"/>
                </a:solidFill>
                <a:latin typeface="Fira Mono Medium" panose="020B0609050000020004" pitchFamily="34" charset="0"/>
                <a:ea typeface="Fira Mono Medium" panose="020B0609050000020004" pitchFamily="34" charset="-122"/>
                <a:cs typeface="Fira Mono Medium" panose="020B0609050000020004" pitchFamily="34" charset="-120"/>
              </a:rPr>
              <a:t>CO2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27584" y="1670137"/>
            <a:ext cx="1706817" cy="9985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kern="100" spc="197" dirty="0">
                <a:solidFill>
                  <a:srgbClr val="FFFFFF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SELECTION AND ITERATION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3027584" y="2816225"/>
            <a:ext cx="213216" cy="19050"/>
          </a:xfrm>
          <a:prstGeom prst="roundRect">
            <a:avLst>
              <a:gd name="adj" fmla="val 49999"/>
            </a:avLst>
          </a:prstGeom>
          <a:solidFill>
            <a:srgbClr val="9BE1FF"/>
          </a:solidFill>
        </p:spPr>
      </p:sp>
      <p:sp>
        <p:nvSpPr>
          <p:cNvPr id="13" name="Text 11"/>
          <p:cNvSpPr/>
          <p:nvPr/>
        </p:nvSpPr>
        <p:spPr>
          <a:xfrm>
            <a:off x="3027584" y="2973189"/>
            <a:ext cx="1706817" cy="196453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130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Uses switch for service selection</a:t>
            </a:r>
            <a:endParaRPr lang="en-US" sz="1350" dirty="0"/>
          </a:p>
          <a:p>
            <a:pPr marL="274320" indent="-274320" algn="l">
              <a:lnSpc>
                <a:spcPct val="1130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Uses if-else for validation and order type</a:t>
            </a:r>
            <a:endParaRPr lang="en-US" sz="1350" dirty="0"/>
          </a:p>
          <a:p>
            <a:pPr marL="274320" indent="-274320" algn="l">
              <a:lnSpc>
                <a:spcPct val="1130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Uses do-while loop for multiple item ordering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988396" y="1196677"/>
            <a:ext cx="2214805" cy="5578376"/>
          </a:xfrm>
          <a:prstGeom prst="rect">
            <a:avLst/>
          </a:prstGeom>
          <a:solidFill>
            <a:srgbClr val="1A1A1A"/>
          </a:solidFill>
        </p:spPr>
      </p:sp>
      <p:sp>
        <p:nvSpPr>
          <p:cNvPr id="15" name="Text 13"/>
          <p:cNvSpPr/>
          <p:nvPr/>
        </p:nvSpPr>
        <p:spPr>
          <a:xfrm>
            <a:off x="5242389" y="1425277"/>
            <a:ext cx="1960811" cy="1651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kern="100" spc="85" dirty="0">
                <a:solidFill>
                  <a:srgbClr val="D5D5D5"/>
                </a:solidFill>
                <a:latin typeface="Fira Mono Medium" panose="020B0609050000020004" pitchFamily="34" charset="0"/>
                <a:ea typeface="Fira Mono Medium" panose="020B0609050000020004" pitchFamily="34" charset="-122"/>
                <a:cs typeface="Fira Mono Medium" panose="020B0609050000020004" pitchFamily="34" charset="-120"/>
              </a:rPr>
              <a:t>CO3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42389" y="1670137"/>
            <a:ext cx="1706817" cy="12481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kern="100" spc="197" dirty="0">
                <a:solidFill>
                  <a:srgbClr val="D5D5D5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ARRAYS AND DATA PROCESSING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5242389" y="3065859"/>
            <a:ext cx="213216" cy="19050"/>
          </a:xfrm>
          <a:prstGeom prst="roundRect">
            <a:avLst>
              <a:gd name="adj" fmla="val 49999"/>
            </a:avLst>
          </a:prstGeom>
          <a:solidFill>
            <a:srgbClr val="9BE1FF"/>
          </a:solidFill>
        </p:spPr>
      </p:sp>
      <p:sp>
        <p:nvSpPr>
          <p:cNvPr id="18" name="Text 16"/>
          <p:cNvSpPr/>
          <p:nvPr/>
        </p:nvSpPr>
        <p:spPr>
          <a:xfrm>
            <a:off x="5242389" y="3222823"/>
            <a:ext cx="1706817" cy="243463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13000"/>
              </a:lnSpc>
              <a:buSzPct val="100000"/>
              <a:buChar char="•"/>
            </a:pP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Uses arrays to store menu items and prices</a:t>
            </a:r>
            <a:endParaRPr lang="en-US" sz="1350" dirty="0"/>
          </a:p>
          <a:p>
            <a:pPr marL="274320" indent="-274320" algn="l">
              <a:lnSpc>
                <a:spcPct val="113000"/>
              </a:lnSpc>
              <a:buSzPct val="100000"/>
              <a:buChar char="•"/>
            </a:pP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Processes data using array indexing and traversal</a:t>
            </a:r>
            <a:endParaRPr lang="en-US" sz="1350" dirty="0"/>
          </a:p>
          <a:p>
            <a:pPr marL="274320" indent="-274320" algn="l">
              <a:lnSpc>
                <a:spcPct val="113000"/>
              </a:lnSpc>
              <a:buSzPct val="100000"/>
              <a:buChar char="•"/>
            </a:pP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Maintains order information and calculates the bill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203200" y="1196677"/>
            <a:ext cx="2214805" cy="5578376"/>
          </a:xfrm>
          <a:prstGeom prst="rect">
            <a:avLst/>
          </a:prstGeom>
          <a:solidFill>
            <a:srgbClr val="262626"/>
          </a:solidFill>
        </p:spPr>
      </p:sp>
      <p:sp>
        <p:nvSpPr>
          <p:cNvPr id="20" name="Text 18"/>
          <p:cNvSpPr/>
          <p:nvPr/>
        </p:nvSpPr>
        <p:spPr>
          <a:xfrm>
            <a:off x="7457194" y="1425277"/>
            <a:ext cx="1960811" cy="1651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kern="100" spc="85" dirty="0">
                <a:solidFill>
                  <a:srgbClr val="FFFFFF"/>
                </a:solidFill>
                <a:latin typeface="Fira Mono Medium" panose="020B0609050000020004" pitchFamily="34" charset="0"/>
                <a:ea typeface="Fira Mono Medium" panose="020B0609050000020004" pitchFamily="34" charset="-122"/>
                <a:cs typeface="Fira Mono Medium" panose="020B0609050000020004" pitchFamily="34" charset="-120"/>
              </a:rPr>
              <a:t>CO 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457194" y="1670137"/>
            <a:ext cx="1706817" cy="224670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kern="100" spc="197" dirty="0">
                <a:solidFill>
                  <a:srgbClr val="FFFFFF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OBJECT-ORIENTED MODELLING, DESIGN &amp; EXCEPTION HANDLING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7457194" y="4064397"/>
            <a:ext cx="213216" cy="19050"/>
          </a:xfrm>
          <a:prstGeom prst="roundRect">
            <a:avLst>
              <a:gd name="adj" fmla="val 49999"/>
            </a:avLst>
          </a:prstGeom>
          <a:solidFill>
            <a:srgbClr val="9BE1FF"/>
          </a:solidFill>
        </p:spPr>
      </p:sp>
      <p:sp>
        <p:nvSpPr>
          <p:cNvPr id="23" name="Text 21"/>
          <p:cNvSpPr/>
          <p:nvPr/>
        </p:nvSpPr>
        <p:spPr>
          <a:xfrm>
            <a:off x="7457194" y="4221361"/>
            <a:ext cx="1706817" cy="23504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Models with classes and objects using encapsulation, inheritance, interfaces and method overriding, while handling checked and unchecked exceptions.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9418005" y="1196677"/>
            <a:ext cx="2214904" cy="5578376"/>
          </a:xfrm>
          <a:custGeom>
            <a:avLst/>
            <a:gdLst/>
            <a:ahLst/>
            <a:cxnLst/>
            <a:rect l="l" t="t" r="r" b="b"/>
            <a:pathLst>
              <a:path w="2214904" h="5578376">
                <a:moveTo>
                  <a:pt x="0" y="0"/>
                </a:moveTo>
                <a:lnTo>
                  <a:pt x="2205379" y="0"/>
                </a:lnTo>
                <a:arcTo wR="9525" hR="9525" stAng="16200000" swAng="5400000"/>
                <a:lnTo>
                  <a:pt x="2214904" y="5568851"/>
                </a:lnTo>
                <a:arcTo wR="9525" hR="9525" stAng="0" swAng="5400000"/>
                <a:lnTo>
                  <a:pt x="0" y="5578376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</p:spPr>
      </p:sp>
      <p:sp>
        <p:nvSpPr>
          <p:cNvPr id="25" name="Text 23"/>
          <p:cNvSpPr/>
          <p:nvPr/>
        </p:nvSpPr>
        <p:spPr>
          <a:xfrm>
            <a:off x="9671999" y="1425277"/>
            <a:ext cx="1960910" cy="1651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kern="100" spc="85" dirty="0">
                <a:solidFill>
                  <a:srgbClr val="D5D5D5"/>
                </a:solidFill>
                <a:latin typeface="Fira Mono Medium" panose="020B0609050000020004" pitchFamily="34" charset="0"/>
                <a:ea typeface="Fira Mono Medium" panose="020B0609050000020004" pitchFamily="34" charset="-122"/>
                <a:cs typeface="Fira Mono Medium" panose="020B0609050000020004" pitchFamily="34" charset="-120"/>
              </a:rPr>
              <a:t>CO 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671999" y="1670137"/>
            <a:ext cx="1706917" cy="12481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kern="100" spc="197" dirty="0">
                <a:solidFill>
                  <a:srgbClr val="D5D5D5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STRINGS, LIBRARY ALGORITHMS &amp; FILE I/O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9671999" y="3065859"/>
            <a:ext cx="213216" cy="19050"/>
          </a:xfrm>
          <a:prstGeom prst="roundRect">
            <a:avLst>
              <a:gd name="adj" fmla="val 49999"/>
            </a:avLst>
          </a:prstGeom>
          <a:solidFill>
            <a:srgbClr val="9BE1FF"/>
          </a:solidFill>
        </p:spPr>
      </p:sp>
      <p:sp>
        <p:nvSpPr>
          <p:cNvPr id="28" name="Text 26"/>
          <p:cNvSpPr/>
          <p:nvPr/>
        </p:nvSpPr>
        <p:spPr>
          <a:xfrm>
            <a:off x="9671999" y="3222823"/>
            <a:ext cx="1706917" cy="23504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Applies String operations and comparisons, StringBuilder/StringBuffer, sorting and searching, plus safe text-file processing with Files, Path, buffered I/O and try-with-resources.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2767241" y="1196677"/>
            <a:ext cx="12700" cy="5578376"/>
          </a:xfrm>
          <a:prstGeom prst="rect">
            <a:avLst/>
          </a:prstGeom>
          <a:solidFill>
            <a:srgbClr val="3F3F3F"/>
          </a:solidFill>
        </p:spPr>
      </p:sp>
      <p:sp>
        <p:nvSpPr>
          <p:cNvPr id="30" name="Shape 28"/>
          <p:cNvSpPr/>
          <p:nvPr/>
        </p:nvSpPr>
        <p:spPr>
          <a:xfrm>
            <a:off x="4982046" y="1196677"/>
            <a:ext cx="12700" cy="5578376"/>
          </a:xfrm>
          <a:prstGeom prst="rect">
            <a:avLst/>
          </a:prstGeom>
          <a:solidFill>
            <a:srgbClr val="3F3F3F"/>
          </a:solidFill>
        </p:spPr>
      </p:sp>
      <p:sp>
        <p:nvSpPr>
          <p:cNvPr id="31" name="Shape 29"/>
          <p:cNvSpPr/>
          <p:nvPr/>
        </p:nvSpPr>
        <p:spPr>
          <a:xfrm>
            <a:off x="7196850" y="1196677"/>
            <a:ext cx="12700" cy="5578376"/>
          </a:xfrm>
          <a:prstGeom prst="rect">
            <a:avLst/>
          </a:prstGeom>
          <a:solidFill>
            <a:srgbClr val="3F3F3F"/>
          </a:solidFill>
        </p:spPr>
      </p:sp>
      <p:sp>
        <p:nvSpPr>
          <p:cNvPr id="32" name="Shape 30"/>
          <p:cNvSpPr/>
          <p:nvPr/>
        </p:nvSpPr>
        <p:spPr>
          <a:xfrm>
            <a:off x="9411655" y="1196677"/>
            <a:ext cx="12700" cy="5578376"/>
          </a:xfrm>
          <a:prstGeom prst="rect">
            <a:avLst/>
          </a:prstGeom>
          <a:solidFill>
            <a:srgbClr val="3F3F3F"/>
          </a:solidFill>
        </p:spPr>
      </p:sp>
      <p:sp>
        <p:nvSpPr>
          <p:cNvPr id="33" name="Text 31"/>
          <p:cNvSpPr/>
          <p:nvPr/>
        </p:nvSpPr>
        <p:spPr>
          <a:xfrm>
            <a:off x="11835905" y="6467078"/>
            <a:ext cx="355790" cy="1722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kern="100" spc="76" dirty="0">
                <a:solidFill>
                  <a:srgbClr val="9D9D9D"/>
                </a:solidFill>
                <a:latin typeface="Fira Mono" panose="020B0509050000020004" pitchFamily="34" charset="0"/>
                <a:ea typeface="Fira Mono" panose="020B0509050000020004" pitchFamily="34" charset="-122"/>
                <a:cs typeface="Fira Mono" panose="020B0509050000020004" pitchFamily="34" charset="-120"/>
              </a:rPr>
              <a:t>04</a:t>
            </a:r>
            <a:endParaRPr lang="en-US" sz="950" dirty="0"/>
          </a:p>
        </p:txBody>
      </p:sp>
      <p:sp>
        <p:nvSpPr>
          <p:cNvPr id="35" name="Rectangle 34"/>
          <p:cNvSpPr/>
          <p:nvPr/>
        </p:nvSpPr>
        <p:spPr>
          <a:xfrm>
            <a:off x="10901680" y="6276340"/>
            <a:ext cx="1290320" cy="5702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357822"/>
            <a:ext cx="11683708" cy="1815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93" dirty="0">
                <a:solidFill>
                  <a:srgbClr val="B5B5B5"/>
                </a:solidFill>
                <a:latin typeface="Fira Mono Medium" panose="020B0609050000020004" pitchFamily="34" charset="0"/>
                <a:ea typeface="Fira Mono Medium" panose="020B0609050000020004" pitchFamily="34" charset="-122"/>
                <a:cs typeface="Fira Mono Medium" panose="020B0609050000020004" pitchFamily="34" charset="-120"/>
              </a:rPr>
              <a:t>ALGORITHM &amp; FLOWCHART · 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7987" y="641850"/>
            <a:ext cx="11251919" cy="3939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2900" kern="100" spc="-35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Algorithm &amp; Flowchart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7987" y="1305500"/>
            <a:ext cx="3897017" cy="1980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192" dirty="0">
                <a:solidFill>
                  <a:srgbClr val="D5D5D5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ALGORITHM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87" y="1624509"/>
            <a:ext cx="3897017" cy="44469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18000"/>
              </a:lnSpc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Start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Font typeface="+mj-lt"/>
              <a:buAutoNum type="arabicPeriod" startAt="2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Initialize menu items and prices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Font typeface="+mj-lt"/>
              <a:buAutoNum type="arabicPeriod" startAt="3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Display menu (tiffins and beverages)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Font typeface="+mj-lt"/>
              <a:buAutoNum type="arabicPeriod" startAt="4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Ask for Dine-In / Takeaway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Font typeface="+mj-lt"/>
              <a:buAutoNum type="arabicPeriod" startAt="5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Validate the service type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Font typeface="+mj-lt"/>
              <a:buAutoNum type="arabicPeriod" startAt="6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Enter item serial number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Font typeface="+mj-lt"/>
              <a:buAutoNum type="arabicPeriod" startAt="7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Check if item is available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Font typeface="+mj-lt"/>
              <a:buAutoNum type="arabicPeriod" startAt="8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Add item and update total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Font typeface="+mj-lt"/>
              <a:buAutoNum type="arabicPeriod" startAt="9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Ask for another item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Font typeface="+mj-lt"/>
              <a:buAutoNum type="arabicPeriod" startAt="10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Continue until number &gt; 18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Font typeface="+mj-lt"/>
              <a:buAutoNum type="arabicPeriod" startAt="11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Display order type and items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Font typeface="+mj-lt"/>
              <a:buAutoNum type="arabicPeriod" startAt="12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Show total amount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Font typeface="+mj-lt"/>
              <a:buAutoNum type="arabicPeriod" startAt="13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Display confirmation message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Font typeface="+mj-lt"/>
              <a:buAutoNum type="arabicPeriod" startAt="14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End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862192" y="1305500"/>
            <a:ext cx="6897713" cy="1980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192" dirty="0">
                <a:solidFill>
                  <a:srgbClr val="D5D5D5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FLOWCHART LOGIC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2192" y="1624509"/>
            <a:ext cx="6897713" cy="3048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627248" y="1207393"/>
            <a:ext cx="12700" cy="5345807"/>
          </a:xfrm>
          <a:prstGeom prst="rect">
            <a:avLst/>
          </a:prstGeom>
          <a:solidFill>
            <a:srgbClr val="3F3F3F"/>
          </a:solidFill>
        </p:spPr>
      </p:sp>
      <p:sp>
        <p:nvSpPr>
          <p:cNvPr id="14" name="Rectangle 13"/>
          <p:cNvSpPr/>
          <p:nvPr/>
        </p:nvSpPr>
        <p:spPr>
          <a:xfrm>
            <a:off x="10901680" y="6276340"/>
            <a:ext cx="1290320" cy="5702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08622"/>
            <a:ext cx="11632909" cy="1815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93" dirty="0">
                <a:solidFill>
                  <a:srgbClr val="B5B5B5"/>
                </a:solidFill>
                <a:latin typeface="Fira Mono Medium" panose="020B0609050000020004" pitchFamily="34" charset="0"/>
                <a:ea typeface="Fira Mono Medium" panose="020B0609050000020004" pitchFamily="34" charset="-122"/>
                <a:cs typeface="Fira Mono Medium" panose="020B0609050000020004" pitchFamily="34" charset="-120"/>
              </a:rPr>
              <a:t>MODULE 4 · OBJECT-ORIENTED MODELLING, DESIGN &amp; EXCEPTION HANDLING ·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58786" y="691285"/>
            <a:ext cx="11074123" cy="3804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2800" kern="100" spc="-34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Object-Oriented Modelling, Design &amp; Exception Handling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58786" y="1368107"/>
            <a:ext cx="5257668" cy="1980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192" dirty="0">
                <a:solidFill>
                  <a:srgbClr val="D5D5D5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OBJECT MODEL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58786" y="1687116"/>
            <a:ext cx="5257668" cy="48676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D5D5D5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Object-oriented programming</a:t>
            </a: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models a system with </a:t>
            </a:r>
            <a:r>
              <a:rPr lang="en-US" sz="1350" b="1" dirty="0">
                <a:solidFill>
                  <a:srgbClr val="D5D5D5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classes</a:t>
            </a: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and </a:t>
            </a:r>
            <a:r>
              <a:rPr lang="en-US" sz="1350" b="1" dirty="0">
                <a:solidFill>
                  <a:srgbClr val="D5D5D5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objects</a:t>
            </a: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58786" y="2288183"/>
            <a:ext cx="5257668" cy="21028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Classes are blueprints; objects are instances.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Fields hold state; methods define behavior.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Create objects using </a:t>
            </a:r>
            <a:r>
              <a:rPr lang="en-US" sz="1500" dirty="0">
                <a:solidFill>
                  <a:srgbClr val="D5D5D5"/>
                </a:solidFill>
                <a:highlight>
                  <a:srgbClr val="1A1A1A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new</a:t>
            </a: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; references may be </a:t>
            </a:r>
            <a:r>
              <a:rPr lang="en-US" sz="1500" dirty="0">
                <a:solidFill>
                  <a:srgbClr val="D5D5D5"/>
                </a:solidFill>
                <a:highlight>
                  <a:srgbClr val="1A1A1A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null</a:t>
            </a: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.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Constructors initialize objects: default and parameterized constructors.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Constructor overloading provides multiple construction paths.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58786" y="4551363"/>
            <a:ext cx="1734896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</p:spPr>
      </p:sp>
      <p:sp>
        <p:nvSpPr>
          <p:cNvPr id="8" name="Text 6"/>
          <p:cNvSpPr/>
          <p:nvPr/>
        </p:nvSpPr>
        <p:spPr>
          <a:xfrm>
            <a:off x="558786" y="4743450"/>
            <a:ext cx="5257668" cy="73015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D5D5D5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Class → object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Class: blueprint + fields + methods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Object: instance + state + behavior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375241" y="1368107"/>
            <a:ext cx="5257668" cy="1980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192" dirty="0">
                <a:solidFill>
                  <a:srgbClr val="D5D5D5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DESIGN PRINCIPLES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75241" y="1687116"/>
            <a:ext cx="5257668" cy="237966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highlight>
                  <a:srgbClr val="1A1A1A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this</a:t>
            </a: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refers to the current object.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Encapsulation uses private fields, accessors/mutators, and information hiding.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Instance members belong to each object; static members belong to the class.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Static methods are called through the class; constants express fixed values.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highlight>
                  <a:srgbClr val="1A1A1A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toString()</a:t>
            </a: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provides an object representation.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75241" y="5708749"/>
            <a:ext cx="5257668" cy="74285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D5D5D5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Editable relationship visual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Class blueprint → </a:t>
            </a:r>
            <a:r>
              <a:rPr lang="en-US" sz="1350" dirty="0">
                <a:solidFill>
                  <a:srgbClr val="D5D5D5"/>
                </a:solidFill>
                <a:highlight>
                  <a:srgbClr val="1A1A1A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new</a:t>
            </a: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→ object instance → fields + methods → </a:t>
            </a:r>
            <a:r>
              <a:rPr lang="en-US" sz="1350" dirty="0">
                <a:solidFill>
                  <a:srgbClr val="D5D5D5"/>
                </a:solidFill>
                <a:highlight>
                  <a:srgbClr val="1A1A1A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toString()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089498" y="1244600"/>
            <a:ext cx="12700" cy="5308600"/>
          </a:xfrm>
          <a:prstGeom prst="rect">
            <a:avLst/>
          </a:prstGeom>
          <a:solidFill>
            <a:srgbClr val="3F3F3F"/>
          </a:solidFill>
        </p:spPr>
      </p:sp>
      <p:sp>
        <p:nvSpPr>
          <p:cNvPr id="14" name="Rectangle 13"/>
          <p:cNvSpPr/>
          <p:nvPr/>
        </p:nvSpPr>
        <p:spPr>
          <a:xfrm>
            <a:off x="10901680" y="6276340"/>
            <a:ext cx="1290320" cy="5702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08622"/>
            <a:ext cx="11632909" cy="1815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93" dirty="0">
                <a:solidFill>
                  <a:srgbClr val="B5B5B5"/>
                </a:solidFill>
                <a:latin typeface="Fira Mono Medium" panose="020B0609050000020004" pitchFamily="34" charset="0"/>
                <a:ea typeface="Fira Mono Medium" panose="020B0609050000020004" pitchFamily="34" charset="-122"/>
                <a:cs typeface="Fira Mono Medium" panose="020B0609050000020004" pitchFamily="34" charset="-120"/>
              </a:rPr>
              <a:t>MODULE 4 · INHERITANCE, INTERFACES &amp; EXCEPTION HANDLING · 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58786" y="691285"/>
            <a:ext cx="11074123" cy="3804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2800" kern="100" spc="-34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Inheritance, Interfaces &amp; Exception Handling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58786" y="1368107"/>
            <a:ext cx="5257668" cy="1980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192" dirty="0">
                <a:solidFill>
                  <a:srgbClr val="D5D5D5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INHERITANCE &amp; INTERFACES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58786" y="1687116"/>
            <a:ext cx="5257668" cy="48676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D5D5D5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Inheritance types</a:t>
            </a: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organize shared behavior: single, multilevel, hierarchical, and multiple through interfaces.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58786" y="2288183"/>
            <a:ext cx="5257668" cy="20456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An interface defines a contract at a fundamental level.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b="1" dirty="0">
                <a:solidFill>
                  <a:srgbClr val="D5D5D5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is-a</a:t>
            </a: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relationships connect a subtype to a parent type or interface.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Method overriding lets a subtype provide specialized behavior.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Programming to interfaces reduces dependence on concrete classes.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58786" y="4494212"/>
            <a:ext cx="1734896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</p:spPr>
      </p:sp>
      <p:sp>
        <p:nvSpPr>
          <p:cNvPr id="8" name="Text 6"/>
          <p:cNvSpPr/>
          <p:nvPr/>
        </p:nvSpPr>
        <p:spPr>
          <a:xfrm>
            <a:off x="558786" y="4686300"/>
            <a:ext cx="5257668" cy="97353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D5D5D5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Editable diagram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Interface / Parent type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↓ is-a · overridden method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Implementing / Child type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375241" y="1368107"/>
            <a:ext cx="5257668" cy="1980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192" dirty="0">
                <a:solidFill>
                  <a:srgbClr val="D5D5D5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EXCEPTION-HANDLING FLOW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75241" y="1687116"/>
            <a:ext cx="5257668" cy="48676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Errors are broader failures; exceptions are conditions a program can handle.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375241" y="2288183"/>
            <a:ext cx="5257668" cy="237966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Checked exceptions are verified by the compiler.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Unchecked exceptions occur at runtime.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highlight>
                  <a:srgbClr val="1A1A1A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try</a:t>
            </a: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runs risky code → </a:t>
            </a:r>
            <a:r>
              <a:rPr lang="en-US" sz="1500" dirty="0">
                <a:solidFill>
                  <a:srgbClr val="D5D5D5"/>
                </a:solidFill>
                <a:highlight>
                  <a:srgbClr val="1A1A1A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catch</a:t>
            </a: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handles it → </a:t>
            </a:r>
            <a:r>
              <a:rPr lang="en-US" sz="1500" dirty="0">
                <a:solidFill>
                  <a:srgbClr val="D5D5D5"/>
                </a:solidFill>
                <a:highlight>
                  <a:srgbClr val="1A1A1A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finally</a:t>
            </a: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performs cleanup.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Multi-catch handles related exception types in one branch.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highlight>
                  <a:srgbClr val="1A1A1A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throw</a:t>
            </a: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creates an exception; </a:t>
            </a:r>
            <a:r>
              <a:rPr lang="en-US" sz="1500" dirty="0">
                <a:solidFill>
                  <a:srgbClr val="D5D5D5"/>
                </a:solidFill>
                <a:highlight>
                  <a:srgbClr val="1A1A1A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throws</a:t>
            </a: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declares one for the caller.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75241" y="5958483"/>
            <a:ext cx="5257668" cy="49311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D5D5D5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try</a:t>
            </a: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→ exception? → </a:t>
            </a:r>
            <a:r>
              <a:rPr lang="en-US" sz="1350" b="1" dirty="0">
                <a:solidFill>
                  <a:srgbClr val="D5D5D5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catch / multi-catch</a:t>
            </a: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→ </a:t>
            </a:r>
            <a:r>
              <a:rPr lang="en-US" sz="1350" b="1" dirty="0">
                <a:solidFill>
                  <a:srgbClr val="D5D5D5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finally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D5D5D5"/>
                </a:solidFill>
                <a:highlight>
                  <a:srgbClr val="1A1A1A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throw</a:t>
            </a: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inside · </a:t>
            </a:r>
            <a:r>
              <a:rPr lang="en-US" sz="1350" dirty="0">
                <a:solidFill>
                  <a:srgbClr val="D5D5D5"/>
                </a:solidFill>
                <a:highlight>
                  <a:srgbClr val="1A1A1A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throws</a:t>
            </a: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outward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089498" y="1244600"/>
            <a:ext cx="12700" cy="5308600"/>
          </a:xfrm>
          <a:prstGeom prst="rect">
            <a:avLst/>
          </a:prstGeom>
          <a:solidFill>
            <a:srgbClr val="3F3F3F"/>
          </a:solidFill>
        </p:spPr>
      </p:sp>
      <p:sp>
        <p:nvSpPr>
          <p:cNvPr id="14" name="Rectangle 13"/>
          <p:cNvSpPr/>
          <p:nvPr/>
        </p:nvSpPr>
        <p:spPr>
          <a:xfrm>
            <a:off x="10901680" y="6276340"/>
            <a:ext cx="1290320" cy="5702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08622"/>
            <a:ext cx="11632909" cy="1815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93" dirty="0">
                <a:solidFill>
                  <a:srgbClr val="B5B5B5"/>
                </a:solidFill>
                <a:latin typeface="Fira Mono Medium" panose="020B0609050000020004" pitchFamily="34" charset="0"/>
                <a:ea typeface="Fira Mono Medium" panose="020B0609050000020004" pitchFamily="34" charset="-122"/>
                <a:cs typeface="Fira Mono Medium" panose="020B0609050000020004" pitchFamily="34" charset="-120"/>
              </a:rPr>
              <a:t>MODULE 5 · STRINGS &amp; LIBRARY ALGORITHMS · 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58786" y="691285"/>
            <a:ext cx="11074123" cy="3804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2800" kern="100" spc="-34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Strings &amp; Library Algorithms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58786" y="1368107"/>
            <a:ext cx="3462747" cy="1980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192" dirty="0">
                <a:solidFill>
                  <a:srgbClr val="D5D5D5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STRING ABSTRACTION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58786" y="1687116"/>
            <a:ext cx="3462747" cy="23225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String is immutable.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Character representation, length, indexing, substring, and concatenation.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Comparison, case conversion, searching, and validation.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highlight>
                  <a:srgbClr val="1A1A1A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equals()</a:t>
            </a: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compares value; </a:t>
            </a:r>
            <a:r>
              <a:rPr lang="en-US" sz="1500" dirty="0">
                <a:solidFill>
                  <a:srgbClr val="D5D5D5"/>
                </a:solidFill>
                <a:highlight>
                  <a:srgbClr val="1A1A1A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==</a:t>
            </a: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compares reference.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478722" y="1368107"/>
            <a:ext cx="3234153" cy="39608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192" dirty="0">
                <a:solidFill>
                  <a:srgbClr val="D5D5D5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MUTABLE &amp; STRUCTURED TEXT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478722" y="1885156"/>
            <a:ext cx="3234153" cy="118983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b="1" dirty="0">
                <a:solidFill>
                  <a:srgbClr val="D5D5D5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StringBuilder</a:t>
            </a: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and </a:t>
            </a:r>
            <a:r>
              <a:rPr lang="en-US" sz="1500" b="1" dirty="0">
                <a:solidFill>
                  <a:srgbClr val="D5D5D5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StringBuffer</a:t>
            </a: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support mutable string handling.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highlight>
                  <a:srgbClr val="1A1A1A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split()</a:t>
            </a: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, </a:t>
            </a:r>
            <a:r>
              <a:rPr lang="en-US" sz="1500" dirty="0">
                <a:solidFill>
                  <a:srgbClr val="D5D5D5"/>
                </a:solidFill>
                <a:highlight>
                  <a:srgbClr val="1A1A1A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join()</a:t>
            </a: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, and trimming.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Simple tokenization of records.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78722" y="3235325"/>
            <a:ext cx="1067170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</p:spPr>
      </p:sp>
      <p:sp>
        <p:nvSpPr>
          <p:cNvPr id="9" name="Text 7"/>
          <p:cNvSpPr/>
          <p:nvPr/>
        </p:nvSpPr>
        <p:spPr>
          <a:xfrm>
            <a:off x="4478722" y="3427413"/>
            <a:ext cx="3234153" cy="73015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D5D5D5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Workflow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record → split → trim → validate → tokens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170063" y="1368107"/>
            <a:ext cx="3462846" cy="1980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192" dirty="0">
                <a:solidFill>
                  <a:srgbClr val="D5D5D5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LIBRARY ALGORITHMS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70063" y="1687116"/>
            <a:ext cx="3462846" cy="125968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highlight>
                  <a:srgbClr val="1A1A1A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Arrays.sort()</a:t>
            </a: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and </a:t>
            </a:r>
            <a:r>
              <a:rPr lang="en-US" sz="1500" dirty="0">
                <a:solidFill>
                  <a:srgbClr val="D5D5D5"/>
                </a:solidFill>
                <a:highlight>
                  <a:srgbClr val="1A1A1A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Collections.sort()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highlight>
                  <a:srgbClr val="1A1A1A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Arrays.binarySearch()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highlight>
                  <a:srgbClr val="1A1A1A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Comparable</a:t>
            </a: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for natural ordering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highlight>
                  <a:srgbClr val="1A1A1A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Comparator</a:t>
            </a: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for custom ordering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70063" y="5708749"/>
            <a:ext cx="3462846" cy="74285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D5D5D5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Value vs reference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D5D5D5"/>
                </a:solidFill>
                <a:highlight>
                  <a:srgbClr val="1A1A1A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equals()</a:t>
            </a: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→ same content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D5D5D5"/>
                </a:solidFill>
                <a:highlight>
                  <a:srgbClr val="1A1A1A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==</a:t>
            </a: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→ same reference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243777" y="1244600"/>
            <a:ext cx="12700" cy="5308600"/>
          </a:xfrm>
          <a:prstGeom prst="rect">
            <a:avLst/>
          </a:prstGeom>
          <a:solidFill>
            <a:srgbClr val="3F3F3F"/>
          </a:solidFill>
        </p:spPr>
      </p:sp>
      <p:sp>
        <p:nvSpPr>
          <p:cNvPr id="14" name="Shape 12"/>
          <p:cNvSpPr/>
          <p:nvPr/>
        </p:nvSpPr>
        <p:spPr>
          <a:xfrm>
            <a:off x="7935119" y="1244600"/>
            <a:ext cx="12700" cy="5308600"/>
          </a:xfrm>
          <a:prstGeom prst="rect">
            <a:avLst/>
          </a:prstGeom>
          <a:solidFill>
            <a:srgbClr val="3F3F3F"/>
          </a:solidFill>
        </p:spPr>
      </p:sp>
      <p:sp>
        <p:nvSpPr>
          <p:cNvPr id="15" name="Rectangle 14"/>
          <p:cNvSpPr/>
          <p:nvPr/>
        </p:nvSpPr>
        <p:spPr>
          <a:xfrm>
            <a:off x="10901680" y="6276340"/>
            <a:ext cx="1290320" cy="5702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08622"/>
            <a:ext cx="11632909" cy="1815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93" dirty="0">
                <a:solidFill>
                  <a:srgbClr val="B5B5B5"/>
                </a:solidFill>
                <a:latin typeface="Fira Mono Medium" panose="020B0609050000020004" pitchFamily="34" charset="0"/>
                <a:ea typeface="Fira Mono Medium" panose="020B0609050000020004" pitchFamily="34" charset="-122"/>
                <a:cs typeface="Fira Mono Medium" panose="020B0609050000020004" pitchFamily="34" charset="-120"/>
              </a:rPr>
              <a:t>MODULE 5 · FILE I/O &amp; SAFE RESOURCE HANDLING · 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58786" y="691285"/>
            <a:ext cx="11074123" cy="3804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2800" kern="100" spc="-34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File I/O &amp; Safe Resource Handling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58786" y="1368107"/>
            <a:ext cx="6708806" cy="1980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192" dirty="0">
                <a:solidFill>
                  <a:srgbClr val="D5D5D5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EDITABLE FILE-PROCESSING PIPELINE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58786" y="1687116"/>
            <a:ext cx="7013598" cy="24338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D5D5D5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Path / Files</a:t>
            </a: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→ read → validate → process → write / append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58786" y="2090837"/>
            <a:ext cx="2213713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</p:spPr>
      </p:sp>
      <p:sp>
        <p:nvSpPr>
          <p:cNvPr id="7" name="Text 5"/>
          <p:cNvSpPr/>
          <p:nvPr/>
        </p:nvSpPr>
        <p:spPr>
          <a:xfrm>
            <a:off x="558786" y="2282924"/>
            <a:ext cx="6708806" cy="124063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Read and write text files using </a:t>
            </a:r>
            <a:r>
              <a:rPr lang="en-US" sz="1500" dirty="0">
                <a:solidFill>
                  <a:srgbClr val="D5D5D5"/>
                </a:solidFill>
                <a:highlight>
                  <a:srgbClr val="1A1A1A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java.nio.file</a:t>
            </a: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</a:t>
            </a:r>
            <a:r>
              <a:rPr lang="en-US" sz="1500" b="1" dirty="0">
                <a:solidFill>
                  <a:srgbClr val="D5D5D5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Files</a:t>
            </a: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and </a:t>
            </a:r>
            <a:r>
              <a:rPr lang="en-US" sz="1500" b="1" dirty="0">
                <a:solidFill>
                  <a:srgbClr val="D5D5D5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Path</a:t>
            </a: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.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Use buffered readers and writers for controlled streaming.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Read complete files or process them line by line.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Append data when existing content must be preserved.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58786" y="3637855"/>
            <a:ext cx="6708806" cy="49311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D5D5D5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Safe resource handling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D5D5D5"/>
                </a:solidFill>
                <a:highlight>
                  <a:srgbClr val="1A1A1A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try-with-resources</a:t>
            </a: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 closes readers and writers automatically.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877176" y="1368107"/>
            <a:ext cx="3755733" cy="1980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192" dirty="0">
                <a:solidFill>
                  <a:srgbClr val="D5D5D5"/>
                </a:solidFill>
                <a:latin typeface="Michroma" pitchFamily="34" charset="0"/>
                <a:ea typeface="Michroma" pitchFamily="34" charset="-122"/>
                <a:cs typeface="Michroma" pitchFamily="34" charset="-120"/>
              </a:rPr>
              <a:t>ROBUSTNESS CHECKS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77176" y="1687116"/>
            <a:ext cx="3755733" cy="123428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Handle missing files.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Handle malformed records.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Validate before processing.</a:t>
            </a:r>
            <a:endParaRPr lang="en-US" sz="1500" dirty="0"/>
          </a:p>
          <a:p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Route failures to clear error handling.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877176" y="5964833"/>
            <a:ext cx="3755733" cy="48676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D5D5D5"/>
                </a:solidFill>
                <a:latin typeface="Exo Bold" pitchFamily="34" charset="0"/>
                <a:ea typeface="Exo Bold" pitchFamily="34" charset="-122"/>
                <a:cs typeface="Exo Bold" pitchFamily="34" charset="-120"/>
              </a:rPr>
              <a:t>try-with-resources</a:t>
            </a:r>
            <a:endParaRPr lang="en-US" sz="13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open → process → close automatically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566034" y="1244600"/>
            <a:ext cx="12700" cy="5308600"/>
          </a:xfrm>
          <a:prstGeom prst="rect">
            <a:avLst/>
          </a:prstGeom>
          <a:solidFill>
            <a:srgbClr val="3F3F3F"/>
          </a:solidFill>
        </p:spPr>
      </p:sp>
      <p:sp>
        <p:nvSpPr>
          <p:cNvPr id="14" name="Rectangle 13"/>
          <p:cNvSpPr/>
          <p:nvPr/>
        </p:nvSpPr>
        <p:spPr>
          <a:xfrm>
            <a:off x="11097260" y="6358890"/>
            <a:ext cx="1094740" cy="48768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Your title here</a:t>
            </a:r>
            <a:endParaRPr 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Name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5" y="0"/>
            <a:ext cx="12192635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THANK YOU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/>
              <a:t>Click to add text</a:t>
            </a:r>
            <a:endParaRPr lang="en-US" altLang="zh-C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1*f*5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58"/>
</p:tagLst>
</file>

<file path=ppt/tags/tag6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58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58"/>
</p:tagLst>
</file>

<file path=ppt/tags/tag69.xml><?xml version="1.0" encoding="utf-8"?>
<p:tagLst xmlns:p="http://schemas.openxmlformats.org/presentationml/2006/main">
  <p:tag name="KSO_WM_UNIT_ISCONTENTSTITLE" val="0"/>
  <p:tag name="KSO_WM_UNIT_ISNUMDGMTITLE" val="0"/>
  <p:tag name="KSO_WM_UNIT_PRESET_TEXT" val="Your title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58_1*a*1"/>
  <p:tag name="KSO_WM_TEMPLATE_CATEGORY" val="custom"/>
  <p:tag name="KSO_WM_TEMPLATE_INDEX" val="20233458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SUBTYPE" val="b"/>
  <p:tag name="KSO_WM_UNIT_PRESET_TEXT" val="Name"/>
  <p:tag name="KSO_WM_UNIT_NOCLEAR" val="0"/>
  <p:tag name="KSO_WM_UNIT_VALUE" val="22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3458_1*f*1"/>
  <p:tag name="KSO_WM_TEMPLATE_CATEGORY" val="custom"/>
  <p:tag name="KSO_WM_TEMPLATE_INDEX" val="20233458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TEMPLATE_THUMBS_INDEX" val="1、9"/>
  <p:tag name="KSO_WM_SLIDE_THEME_ID" val="3312567"/>
  <p:tag name="KSO_WM_SLIDE_THEME_NAME" val="紫色业绩汇报办公插画主题模板"/>
  <p:tag name="KSO_WM_SPECIAL_SOURCE" val="bdnull"/>
  <p:tag name="KSO_WM_SLIDE_ID" val="custom20233458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58"/>
  <p:tag name="KSO_WM_SLIDE_LAYOUT" val="a_f"/>
  <p:tag name="KSO_WM_SLIDE_LAYOUT_CNT" val="1_1"/>
</p:tagLst>
</file>

<file path=ppt/tags/tag72.xml><?xml version="1.0" encoding="utf-8"?>
<p:tagLst xmlns:p="http://schemas.openxmlformats.org/presentationml/2006/main">
  <p:tag name="KSO_WM_UNIT_ISCONTENTSTITLE" val="0"/>
  <p:tag name="KSO_WM_UNIT_ISNUMDGMTITLE" val="0"/>
  <p:tag name="KSO_WM_UNIT_NOCLEAR" val="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58_9*a*1"/>
  <p:tag name="KSO_WM_TEMPLATE_CATEGORY" val="custom"/>
  <p:tag name="KSO_WM_TEMPLATE_INDEX" val="20233458"/>
  <p:tag name="KSO_WM_UNIT_LAYERLEVEL" val="1"/>
  <p:tag name="KSO_WM_TAG_VERSION" val="3.0"/>
  <p:tag name="KSO_WM_BEAUTIFY_FLAG" val="#wm#"/>
  <p:tag name="KSO_WM_UNIT_PRESET_TEXT" val="THANK YOU"/>
</p:tagLst>
</file>

<file path=ppt/tags/tag73.xml><?xml version="1.0" encoding="utf-8"?>
<p:tagLst xmlns:p="http://schemas.openxmlformats.org/presentationml/2006/main">
  <p:tag name="KSO_WM_UNIT_SUBTYPE" val="b"/>
  <p:tag name="KSO_WM_UNIT_NOCLEAR" val="0"/>
  <p:tag name="KSO_WM_UNIT_VALUE" val="22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3458_9*f*1"/>
  <p:tag name="KSO_WM_TEMPLATE_CATEGORY" val="custom"/>
  <p:tag name="KSO_WM_TEMPLATE_INDEX" val="20233458"/>
  <p:tag name="KSO_WM_UNIT_LAYERLEVEL" val="1"/>
  <p:tag name="KSO_WM_TAG_VERSION" val="3.0"/>
  <p:tag name="KSO_WM_BEAUTIFY_FLAG" val="#wm#"/>
  <p:tag name="KSO_WM_UNIT_PRESET_TEXT" val="Click to add text"/>
</p:tagLst>
</file>

<file path=ppt/tags/tag74.xml><?xml version="1.0" encoding="utf-8"?>
<p:tagLst xmlns:p="http://schemas.openxmlformats.org/presentationml/2006/main">
  <p:tag name="KSO_WM_SLIDE_THEME_ID" val="3312567"/>
  <p:tag name="KSO_WM_SLIDE_THEME_NAME" val="紫色业绩汇报办公插画主题模板"/>
  <p:tag name="KSO_WM_SPECIAL_SOURCE" val="bdnull"/>
  <p:tag name="KSO_WM_SLIDE_ID" val="custom20233458_9"/>
  <p:tag name="KSO_WM_TEMPLATE_SUBCATEGORY" val="29"/>
  <p:tag name="KSO_WM_TEMPLATE_MASTER_TYPE" val="0"/>
  <p:tag name="KSO_WM_TEMPLATE_COLOR_TYPE" val="0"/>
  <p:tag name="KSO_WM_SLIDE_TYPE" val="endPag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3458"/>
  <p:tag name="KSO_WM_SLIDE_LAYOUT" val="a_f"/>
  <p:tag name="KSO_WM_SLIDE_LAYOUT_CNT" val="1_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字体-简约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>
            <a:solidFill>
              <a:schemeClr val="accent1"/>
            </a:solidFill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6648</Words>
  <Application>WPS Presentation</Application>
  <PresentationFormat>On-screen Show (16:9)</PresentationFormat>
  <Paragraphs>265</Paragraphs>
  <Slides>11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28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41" baseType="lpstr">
      <vt:lpstr>Arial</vt:lpstr>
      <vt:lpstr>SimSun</vt:lpstr>
      <vt:lpstr>Wingdings</vt:lpstr>
      <vt:lpstr>Michroma</vt:lpstr>
      <vt:lpstr>Michroma</vt:lpstr>
      <vt:lpstr>Michroma</vt:lpstr>
      <vt:lpstr>Exo SemiBold</vt:lpstr>
      <vt:lpstr>Exo SemiBold</vt:lpstr>
      <vt:lpstr>Exo SemiBold</vt:lpstr>
      <vt:lpstr>Exo</vt:lpstr>
      <vt:lpstr>Exo</vt:lpstr>
      <vt:lpstr>Exo</vt:lpstr>
      <vt:lpstr>Fira Mono Medium</vt:lpstr>
      <vt:lpstr>Fira Mono Medium</vt:lpstr>
      <vt:lpstr>Fira Mono Medium</vt:lpstr>
      <vt:lpstr>Fira Mono</vt:lpstr>
      <vt:lpstr>Fira Mono</vt:lpstr>
      <vt:lpstr>Fira Mono</vt:lpstr>
      <vt:lpstr>Exo Bold</vt:lpstr>
      <vt:lpstr>Exo Bold</vt:lpstr>
      <vt:lpstr>Exo Bold</vt:lpstr>
      <vt:lpstr>Consolas</vt:lpstr>
      <vt:lpstr>Consolas</vt:lpstr>
      <vt:lpstr>Consolas</vt:lpstr>
      <vt:lpstr>Calibri</vt:lpstr>
      <vt:lpstr>Microsoft YaHei</vt:lpstr>
      <vt:lpstr>Arial Unicode MS</vt:lpstr>
      <vt:lpstr>Calibri Light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Your title here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Tallapragada Piyush Sreeniketh</cp:lastModifiedBy>
  <cp:revision>7</cp:revision>
  <dcterms:created xsi:type="dcterms:W3CDTF">2026-10-15T04:07:00Z</dcterms:created>
  <dcterms:modified xsi:type="dcterms:W3CDTF">2026-10-15T18:56:41Z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9F26B42413D44D3EA9A03AFCD5C1A742_12</vt:lpwstr>
  </property>
  <property fmtid="{D5CDD505-2E9C-101B-9397-08002B2CF9AE}" pid="3" name="KSOProductBuildVer">
    <vt:lpwstr>1033-12.1.0.29162</vt:lpwstr>
  </property>
</Properties>
</file>